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182880"/>
            <a:ext cx="12191695" cy="9144"/>
          </a:xfrm>
          <a:prstGeom prst="rect">
            <a:avLst/>
          </a:prstGeom>
          <a:solidFill>
            <a:srgbClr val="3B82F6"/>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0" y="457200"/>
            <a:ext cx="3657600" cy="274320"/>
          </a:xfrm>
          <a:prstGeom prst="rect">
            <a:avLst/>
          </a:prstGeom>
          <a:noFill/>
        </p:spPr>
        <p:txBody>
          <a:bodyPr wrap="none">
            <a:spAutoFit/>
          </a:bodyPr>
          <a:lstStyle/>
          <a:p>
            <a:pPr algn="ctr">
              <a:defRPr sz="1400">
                <a:solidFill>
                  <a:srgbClr val="06B6D4"/>
                </a:solidFill>
              </a:defRPr>
            </a:pPr>
            <a:r>
              <a:t>B.Tech Final Year Project — 2024-25</a:t>
            </a:r>
          </a:p>
        </p:txBody>
      </p:sp>
      <p:sp>
        <p:nvSpPr>
          <p:cNvPr id="4" name="TextBox 3"/>
          <p:cNvSpPr txBox="1"/>
          <p:nvPr/>
        </p:nvSpPr>
        <p:spPr>
          <a:xfrm>
            <a:off x="457200" y="1828800"/>
            <a:ext cx="11277295" cy="1371600"/>
          </a:xfrm>
          <a:prstGeom prst="rect">
            <a:avLst/>
          </a:prstGeom>
          <a:noFill/>
        </p:spPr>
        <p:txBody>
          <a:bodyPr wrap="square">
            <a:spAutoFit/>
          </a:bodyPr>
          <a:lstStyle/>
          <a:p>
            <a:pPr algn="ctr">
              <a:defRPr sz="3200" b="1">
                <a:solidFill>
                  <a:srgbClr val="F1F5F9"/>
                </a:solidFill>
              </a:defRPr>
            </a:pPr>
            <a:r>
              <a:t>An Explainable Agentic RAG-Based</a:t>
            </a:r>
          </a:p>
          <a:p>
            <a:pPr algn="ctr">
              <a:defRPr sz="3200" b="1">
                <a:solidFill>
                  <a:srgbClr val="F1F5F9"/>
                </a:solidFill>
              </a:defRPr>
            </a:pPr>
            <a:r>
              <a:t>Student Academic Performance Risk Assessment</a:t>
            </a:r>
          </a:p>
          <a:p>
            <a:pPr algn="ctr">
              <a:defRPr sz="3200" b="1">
                <a:solidFill>
                  <a:srgbClr val="F1F5F9"/>
                </a:solidFill>
              </a:defRPr>
            </a:pPr>
            <a:r>
              <a:t>and Advisory System</a:t>
            </a:r>
          </a:p>
        </p:txBody>
      </p:sp>
      <p:sp>
        <p:nvSpPr>
          <p:cNvPr id="5" name="TextBox 4"/>
          <p:cNvSpPr txBox="1"/>
          <p:nvPr/>
        </p:nvSpPr>
        <p:spPr>
          <a:xfrm>
            <a:off x="3657600" y="3383280"/>
            <a:ext cx="4876495" cy="731520"/>
          </a:xfrm>
          <a:prstGeom prst="rect">
            <a:avLst/>
          </a:prstGeom>
          <a:noFill/>
        </p:spPr>
        <p:txBody>
          <a:bodyPr wrap="none">
            <a:spAutoFit/>
          </a:bodyPr>
          <a:lstStyle/>
          <a:p>
            <a:pPr algn="ctr">
              <a:defRPr sz="6000" b="1">
                <a:solidFill>
                  <a:srgbClr val="3B82F6"/>
                </a:solidFill>
              </a:defRPr>
            </a:pPr>
            <a:r>
              <a:t>SARS</a:t>
            </a:r>
          </a:p>
        </p:txBody>
      </p:sp>
      <p:sp>
        <p:nvSpPr>
          <p:cNvPr id="6" name="TextBox 5"/>
          <p:cNvSpPr txBox="1"/>
          <p:nvPr/>
        </p:nvSpPr>
        <p:spPr>
          <a:xfrm>
            <a:off x="731520" y="4389120"/>
            <a:ext cx="4572000" cy="1371600"/>
          </a:xfrm>
          <a:prstGeom prst="rect">
            <a:avLst/>
          </a:prstGeom>
          <a:noFill/>
        </p:spPr>
        <p:txBody>
          <a:bodyPr wrap="square">
            <a:spAutoFit/>
          </a:bodyPr>
          <a:lstStyle/>
          <a:p>
            <a:pPr>
              <a:defRPr sz="1200" b="1">
                <a:solidFill>
                  <a:srgbClr val="F1F5F9"/>
                </a:solidFill>
              </a:defRPr>
            </a:pPr>
            <a:r>
              <a:t>Presented by:</a:t>
            </a:r>
          </a:p>
          <a:p>
            <a:pPr>
              <a:defRPr sz="1100">
                <a:solidFill>
                  <a:srgbClr val="94A3B8"/>
                </a:solidFill>
              </a:defRPr>
            </a:pPr>
            <a:r>
              <a:t>Kethavath Santhosh</a:t>
            </a:r>
          </a:p>
          <a:p>
            <a:pPr>
              <a:defRPr sz="1100">
                <a:solidFill>
                  <a:srgbClr val="94A3B8"/>
                </a:solidFill>
              </a:defRPr>
            </a:pPr>
            <a:r>
              <a:t>Roll No: 22311A12P9</a:t>
            </a:r>
          </a:p>
          <a:p>
            <a:pPr>
              <a:defRPr sz="1100">
                <a:solidFill>
                  <a:srgbClr val="94A3B8"/>
                </a:solidFill>
              </a:defRPr>
            </a:pPr>
            <a:r>
              <a:t>B.Tech IV Year — Information Technology</a:t>
            </a:r>
          </a:p>
        </p:txBody>
      </p:sp>
      <p:sp>
        <p:nvSpPr>
          <p:cNvPr id="7" name="TextBox 6"/>
          <p:cNvSpPr txBox="1"/>
          <p:nvPr/>
        </p:nvSpPr>
        <p:spPr>
          <a:xfrm>
            <a:off x="6858000" y="4389120"/>
            <a:ext cx="4572000" cy="1371600"/>
          </a:xfrm>
          <a:prstGeom prst="rect">
            <a:avLst/>
          </a:prstGeom>
          <a:noFill/>
        </p:spPr>
        <p:txBody>
          <a:bodyPr wrap="square">
            <a:spAutoFit/>
          </a:bodyPr>
          <a:lstStyle/>
          <a:p>
            <a:pPr>
              <a:defRPr sz="1200" b="1">
                <a:solidFill>
                  <a:srgbClr val="F1F5F9"/>
                </a:solidFill>
              </a:defRPr>
            </a:pPr>
            <a:r>
              <a:t>Under the Guidance of:</a:t>
            </a:r>
          </a:p>
          <a:p>
            <a:pPr>
              <a:defRPr sz="1100">
                <a:solidFill>
                  <a:srgbClr val="94A3B8"/>
                </a:solidFill>
              </a:defRPr>
            </a:pPr>
            <a:r>
              <a:t>Dr. Sunil Bhutada</a:t>
            </a:r>
          </a:p>
          <a:p>
            <a:pPr>
              <a:defRPr sz="1100">
                <a:solidFill>
                  <a:srgbClr val="94A3B8"/>
                </a:solidFill>
              </a:defRPr>
            </a:pPr>
            <a:r>
              <a:t>Department of Computer Science</a:t>
            </a:r>
          </a:p>
          <a:p>
            <a:pPr>
              <a:defRPr sz="1100">
                <a:solidFill>
                  <a:srgbClr val="94A3B8"/>
                </a:solidFill>
              </a:defRPr>
            </a:pPr>
            <a:r>
              <a:t>SNIST, Hyderabad</a:t>
            </a:r>
          </a:p>
        </p:txBody>
      </p:sp>
      <p:sp>
        <p:nvSpPr>
          <p:cNvPr id="8" name="Rectangle 7"/>
          <p:cNvSpPr/>
          <p:nvPr/>
        </p:nvSpPr>
        <p:spPr>
          <a:xfrm>
            <a:off x="0" y="6766560"/>
            <a:ext cx="12191695" cy="9144"/>
          </a:xfrm>
          <a:prstGeom prst="rect">
            <a:avLst/>
          </a:prstGeom>
          <a:solidFill>
            <a:srgbClr val="3B82F6"/>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446520"/>
            <a:ext cx="2743200" cy="365760"/>
          </a:xfrm>
          <a:prstGeom prst="rect">
            <a:avLst/>
          </a:prstGeom>
          <a:noFill/>
        </p:spPr>
        <p:txBody>
          <a:bodyPr wrap="none">
            <a:spAutoFit/>
          </a:bodyPr>
          <a:lstStyle/>
          <a:p>
            <a:pPr>
              <a:defRPr sz="1000">
                <a:solidFill>
                  <a:srgbClr val="94A3B8"/>
                </a:solidFill>
              </a:defRPr>
            </a:pPr>
            <a:r>
              <a:t>SARS | SNIST 2024-25</a:t>
            </a:r>
          </a:p>
        </p:txBody>
      </p:sp>
      <p:sp>
        <p:nvSpPr>
          <p:cNvPr id="10" name="TextBox 9"/>
          <p:cNvSpPr txBox="1"/>
          <p:nvPr/>
        </p:nvSpPr>
        <p:spPr>
          <a:xfrm>
            <a:off x="10515600" y="6446520"/>
            <a:ext cx="1371600" cy="365760"/>
          </a:xfrm>
          <a:prstGeom prst="rect">
            <a:avLst/>
          </a:prstGeom>
          <a:noFill/>
        </p:spPr>
        <p:txBody>
          <a:bodyPr wrap="none">
            <a:spAutoFit/>
          </a:bodyPr>
          <a:lstStyle/>
          <a:p>
            <a:pPr algn="r">
              <a:defRPr sz="1000">
                <a:solidFill>
                  <a:srgbClr val="94A3B8"/>
                </a:solidFill>
              </a:defRPr>
            </a:pPr>
            <a:r>
              <a:t>Slide 1 / 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74320"/>
            <a:ext cx="10360152" cy="914400"/>
          </a:xfrm>
          <a:prstGeom prst="rect">
            <a:avLst/>
          </a:prstGeom>
          <a:noFill/>
        </p:spPr>
        <p:txBody>
          <a:bodyPr wrap="square">
            <a:spAutoFit/>
          </a:bodyPr>
          <a:lstStyle/>
          <a:p>
            <a:pPr algn="ctr">
              <a:defRPr sz="3200" b="1">
                <a:solidFill>
                  <a:srgbClr val="3B82F6"/>
                </a:solidFill>
              </a:defRPr>
            </a:pPr>
            <a:r>
              <a:t>Agenda</a:t>
            </a:r>
          </a:p>
        </p:txBody>
      </p:sp>
      <p:sp>
        <p:nvSpPr>
          <p:cNvPr id="3" name="TextBox 2"/>
          <p:cNvSpPr txBox="1"/>
          <p:nvPr/>
        </p:nvSpPr>
        <p:spPr>
          <a:xfrm>
            <a:off x="274320" y="6446520"/>
            <a:ext cx="2743200" cy="365760"/>
          </a:xfrm>
          <a:prstGeom prst="rect">
            <a:avLst/>
          </a:prstGeom>
          <a:noFill/>
        </p:spPr>
        <p:txBody>
          <a:bodyPr wrap="none">
            <a:spAutoFit/>
          </a:bodyPr>
          <a:lstStyle/>
          <a:p>
            <a:pPr>
              <a:defRPr sz="1000">
                <a:solidFill>
                  <a:srgbClr val="94A3B8"/>
                </a:solidFill>
              </a:defRPr>
            </a:pPr>
            <a:r>
              <a:t>SARS | SNIST 2024-25</a:t>
            </a:r>
          </a:p>
        </p:txBody>
      </p:sp>
      <p:sp>
        <p:nvSpPr>
          <p:cNvPr id="4" name="TextBox 3"/>
          <p:cNvSpPr txBox="1"/>
          <p:nvPr/>
        </p:nvSpPr>
        <p:spPr>
          <a:xfrm>
            <a:off x="10515600" y="6446520"/>
            <a:ext cx="1371600" cy="365760"/>
          </a:xfrm>
          <a:prstGeom prst="rect">
            <a:avLst/>
          </a:prstGeom>
          <a:noFill/>
        </p:spPr>
        <p:txBody>
          <a:bodyPr wrap="none">
            <a:spAutoFit/>
          </a:bodyPr>
          <a:lstStyle/>
          <a:p>
            <a:pPr algn="r">
              <a:defRPr sz="1000">
                <a:solidFill>
                  <a:srgbClr val="94A3B8"/>
                </a:solidFill>
              </a:defRPr>
            </a:pPr>
            <a:r>
              <a:t>Slide 2 / 19</a:t>
            </a:r>
          </a:p>
        </p:txBody>
      </p:sp>
      <p:sp>
        <p:nvSpPr>
          <p:cNvPr id="5" name="TextBox 4"/>
          <p:cNvSpPr txBox="1"/>
          <p:nvPr/>
        </p:nvSpPr>
        <p:spPr>
          <a:xfrm>
            <a:off x="731520" y="1097280"/>
            <a:ext cx="5029200" cy="5029200"/>
          </a:xfrm>
          <a:prstGeom prst="rect">
            <a:avLst/>
          </a:prstGeom>
          <a:noFill/>
        </p:spPr>
        <p:txBody>
          <a:bodyPr wrap="square">
            <a:spAutoFit/>
          </a:bodyPr>
          <a:lstStyle/>
          <a:p>
            <a:pPr>
              <a:spcBef>
                <a:spcPts val="600"/>
              </a:spcBef>
              <a:spcAft>
                <a:spcPts val="600"/>
              </a:spcAft>
              <a:defRPr sz="1300">
                <a:solidFill>
                  <a:srgbClr val="F1F5F9"/>
                </a:solidFill>
              </a:defRPr>
            </a:pPr>
            <a:r>
              <a:t>01  Abstract</a:t>
            </a:r>
          </a:p>
          <a:p>
            <a:pPr>
              <a:spcBef>
                <a:spcPts val="600"/>
              </a:spcBef>
              <a:spcAft>
                <a:spcPts val="600"/>
              </a:spcAft>
              <a:defRPr sz="1300">
                <a:solidFill>
                  <a:srgbClr val="F1F5F9"/>
                </a:solidFill>
              </a:defRPr>
            </a:pPr>
            <a:r>
              <a:t>02  Introduction</a:t>
            </a:r>
          </a:p>
          <a:p>
            <a:pPr>
              <a:spcBef>
                <a:spcPts val="600"/>
              </a:spcBef>
              <a:spcAft>
                <a:spcPts val="600"/>
              </a:spcAft>
              <a:defRPr sz="1300">
                <a:solidFill>
                  <a:srgbClr val="F1F5F9"/>
                </a:solidFill>
              </a:defRPr>
            </a:pPr>
            <a:r>
              <a:t>03  Existing System</a:t>
            </a:r>
          </a:p>
          <a:p>
            <a:pPr>
              <a:spcBef>
                <a:spcPts val="600"/>
              </a:spcBef>
              <a:spcAft>
                <a:spcPts val="600"/>
              </a:spcAft>
              <a:defRPr sz="1300">
                <a:solidFill>
                  <a:srgbClr val="F1F5F9"/>
                </a:solidFill>
              </a:defRPr>
            </a:pPr>
            <a:r>
              <a:t>04  Proposed System</a:t>
            </a:r>
          </a:p>
          <a:p>
            <a:pPr>
              <a:spcBef>
                <a:spcPts val="600"/>
              </a:spcBef>
              <a:spcAft>
                <a:spcPts val="600"/>
              </a:spcAft>
              <a:defRPr sz="1300">
                <a:solidFill>
                  <a:srgbClr val="F1F5F9"/>
                </a:solidFill>
              </a:defRPr>
            </a:pPr>
            <a:r>
              <a:t>05  System Requirements</a:t>
            </a:r>
          </a:p>
          <a:p>
            <a:pPr>
              <a:spcBef>
                <a:spcPts val="600"/>
              </a:spcBef>
              <a:spcAft>
                <a:spcPts val="600"/>
              </a:spcAft>
              <a:defRPr sz="1300">
                <a:solidFill>
                  <a:srgbClr val="F1F5F9"/>
                </a:solidFill>
              </a:defRPr>
            </a:pPr>
            <a:r>
              <a:t>06  System Architecture</a:t>
            </a:r>
          </a:p>
          <a:p>
            <a:pPr>
              <a:spcBef>
                <a:spcPts val="600"/>
              </a:spcBef>
              <a:spcAft>
                <a:spcPts val="600"/>
              </a:spcAft>
              <a:defRPr sz="1300">
                <a:solidFill>
                  <a:srgbClr val="F1F5F9"/>
                </a:solidFill>
              </a:defRPr>
            </a:pPr>
            <a:r>
              <a:t>07  RAG Pipeline</a:t>
            </a:r>
          </a:p>
          <a:p>
            <a:pPr>
              <a:spcBef>
                <a:spcPts val="600"/>
              </a:spcBef>
              <a:spcAft>
                <a:spcPts val="600"/>
              </a:spcAft>
              <a:defRPr sz="1300">
                <a:solidFill>
                  <a:srgbClr val="F1F5F9"/>
                </a:solidFill>
              </a:defRPr>
            </a:pPr>
            <a:r>
              <a:t>08  UML Diagrams</a:t>
            </a:r>
          </a:p>
          <a:p>
            <a:pPr>
              <a:spcBef>
                <a:spcPts val="600"/>
              </a:spcBef>
              <a:spcAft>
                <a:spcPts val="600"/>
              </a:spcAft>
              <a:defRPr sz="1300">
                <a:solidFill>
                  <a:srgbClr val="F1F5F9"/>
                </a:solidFill>
              </a:defRPr>
            </a:pPr>
            <a:r>
              <a:t>09  System Modules</a:t>
            </a:r>
          </a:p>
        </p:txBody>
      </p:sp>
      <p:sp>
        <p:nvSpPr>
          <p:cNvPr id="6" name="TextBox 5"/>
          <p:cNvSpPr txBox="1"/>
          <p:nvPr/>
        </p:nvSpPr>
        <p:spPr>
          <a:xfrm>
            <a:off x="6217920" y="1097280"/>
            <a:ext cx="5029200" cy="5029200"/>
          </a:xfrm>
          <a:prstGeom prst="rect">
            <a:avLst/>
          </a:prstGeom>
          <a:noFill/>
        </p:spPr>
        <p:txBody>
          <a:bodyPr wrap="square">
            <a:spAutoFit/>
          </a:bodyPr>
          <a:lstStyle/>
          <a:p>
            <a:pPr>
              <a:spcBef>
                <a:spcPts val="600"/>
              </a:spcBef>
              <a:spcAft>
                <a:spcPts val="600"/>
              </a:spcAft>
              <a:defRPr sz="1300">
                <a:solidFill>
                  <a:srgbClr val="F1F5F9"/>
                </a:solidFill>
              </a:defRPr>
            </a:pPr>
            <a:r>
              <a:t>10  Implementation</a:t>
            </a:r>
          </a:p>
          <a:p>
            <a:pPr>
              <a:spcBef>
                <a:spcPts val="600"/>
              </a:spcBef>
              <a:spcAft>
                <a:spcPts val="600"/>
              </a:spcAft>
              <a:defRPr sz="1300">
                <a:solidFill>
                  <a:srgbClr val="F1F5F9"/>
                </a:solidFill>
              </a:defRPr>
            </a:pPr>
            <a:r>
              <a:t>11  Database Design</a:t>
            </a:r>
          </a:p>
          <a:p>
            <a:pPr>
              <a:spcBef>
                <a:spcPts val="600"/>
              </a:spcBef>
              <a:spcAft>
                <a:spcPts val="600"/>
              </a:spcAft>
              <a:defRPr sz="1300">
                <a:solidFill>
                  <a:srgbClr val="F1F5F9"/>
                </a:solidFill>
              </a:defRPr>
            </a:pPr>
            <a:r>
              <a:t>12  Key Code Snippets</a:t>
            </a:r>
          </a:p>
          <a:p>
            <a:pPr>
              <a:spcBef>
                <a:spcPts val="600"/>
              </a:spcBef>
              <a:spcAft>
                <a:spcPts val="600"/>
              </a:spcAft>
              <a:defRPr sz="1300">
                <a:solidFill>
                  <a:srgbClr val="F1F5F9"/>
                </a:solidFill>
              </a:defRPr>
            </a:pPr>
            <a:r>
              <a:t>13  Results and Screenshots</a:t>
            </a:r>
          </a:p>
          <a:p>
            <a:pPr>
              <a:spcBef>
                <a:spcPts val="600"/>
              </a:spcBef>
              <a:spcAft>
                <a:spcPts val="600"/>
              </a:spcAft>
              <a:defRPr sz="1300">
                <a:solidFill>
                  <a:srgbClr val="F1F5F9"/>
                </a:solidFill>
              </a:defRPr>
            </a:pPr>
            <a:r>
              <a:t>14  Performance Evaluation</a:t>
            </a:r>
          </a:p>
          <a:p>
            <a:pPr>
              <a:spcBef>
                <a:spcPts val="600"/>
              </a:spcBef>
              <a:spcAft>
                <a:spcPts val="600"/>
              </a:spcAft>
              <a:defRPr sz="1300">
                <a:solidFill>
                  <a:srgbClr val="F1F5F9"/>
                </a:solidFill>
              </a:defRPr>
            </a:pPr>
            <a:r>
              <a:t>15  Conclusion</a:t>
            </a:r>
          </a:p>
          <a:p>
            <a:pPr>
              <a:spcBef>
                <a:spcPts val="600"/>
              </a:spcBef>
              <a:spcAft>
                <a:spcPts val="600"/>
              </a:spcAft>
              <a:defRPr sz="1300">
                <a:solidFill>
                  <a:srgbClr val="F1F5F9"/>
                </a:solidFill>
              </a:defRPr>
            </a:pPr>
            <a:r>
              <a:t>16  Future Scope</a:t>
            </a:r>
          </a:p>
          <a:p>
            <a:pPr>
              <a:spcBef>
                <a:spcPts val="600"/>
              </a:spcBef>
              <a:spcAft>
                <a:spcPts val="600"/>
              </a:spcAft>
              <a:defRPr sz="1300">
                <a:solidFill>
                  <a:srgbClr val="F1F5F9"/>
                </a:solidFill>
              </a:defRPr>
            </a:pPr>
            <a:r>
              <a:t>17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3657600" cy="457200"/>
          </a:xfrm>
          <a:prstGeom prst="rect">
            <a:avLst/>
          </a:prstGeom>
          <a:noFill/>
        </p:spPr>
        <p:txBody>
          <a:bodyPr wrap="none">
            <a:spAutoFit/>
          </a:bodyPr>
          <a:lstStyle/>
          <a:p>
            <a:pPr>
              <a:defRPr sz="1600" b="1">
                <a:solidFill>
                  <a:srgbClr val="3B82F6"/>
                </a:solidFill>
              </a:defRPr>
            </a:pPr>
            <a:r>
              <a:t>01 — Abstract</a:t>
            </a:r>
          </a:p>
        </p:txBody>
      </p:sp>
      <p:sp>
        <p:nvSpPr>
          <p:cNvPr id="3" name="TextBox 2"/>
          <p:cNvSpPr txBox="1"/>
          <p:nvPr/>
        </p:nvSpPr>
        <p:spPr>
          <a:xfrm>
            <a:off x="274320" y="6446520"/>
            <a:ext cx="2743200" cy="365760"/>
          </a:xfrm>
          <a:prstGeom prst="rect">
            <a:avLst/>
          </a:prstGeom>
          <a:noFill/>
        </p:spPr>
        <p:txBody>
          <a:bodyPr wrap="none">
            <a:spAutoFit/>
          </a:bodyPr>
          <a:lstStyle/>
          <a:p>
            <a:pPr>
              <a:defRPr sz="1000">
                <a:solidFill>
                  <a:srgbClr val="94A3B8"/>
                </a:solidFill>
              </a:defRPr>
            </a:pPr>
            <a:r>
              <a:t>SARS | SNIST 2024-25</a:t>
            </a:r>
          </a:p>
        </p:txBody>
      </p:sp>
      <p:sp>
        <p:nvSpPr>
          <p:cNvPr id="4" name="TextBox 3"/>
          <p:cNvSpPr txBox="1"/>
          <p:nvPr/>
        </p:nvSpPr>
        <p:spPr>
          <a:xfrm>
            <a:off x="10515600" y="6446520"/>
            <a:ext cx="1371600" cy="365760"/>
          </a:xfrm>
          <a:prstGeom prst="rect">
            <a:avLst/>
          </a:prstGeom>
          <a:noFill/>
        </p:spPr>
        <p:txBody>
          <a:bodyPr wrap="none">
            <a:spAutoFit/>
          </a:bodyPr>
          <a:lstStyle/>
          <a:p>
            <a:pPr algn="r">
              <a:defRPr sz="1000">
                <a:solidFill>
                  <a:srgbClr val="94A3B8"/>
                </a:solidFill>
              </a:defRPr>
            </a:pPr>
            <a:r>
              <a:t>Slide 3 / 19</a:t>
            </a:r>
          </a:p>
        </p:txBody>
      </p:sp>
      <p:sp>
        <p:nvSpPr>
          <p:cNvPr id="5" name="Rectangle 4"/>
          <p:cNvSpPr/>
          <p:nvPr/>
        </p:nvSpPr>
        <p:spPr>
          <a:xfrm>
            <a:off x="731520" y="1097280"/>
            <a:ext cx="10725912" cy="384048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280160"/>
            <a:ext cx="10058400" cy="457200"/>
          </a:xfrm>
          <a:prstGeom prst="rect">
            <a:avLst/>
          </a:prstGeom>
          <a:noFill/>
        </p:spPr>
        <p:txBody>
          <a:bodyPr wrap="none">
            <a:spAutoFit/>
          </a:bodyPr>
          <a:lstStyle/>
          <a:p>
            <a:pPr>
              <a:defRPr sz="2000" b="1">
                <a:solidFill>
                  <a:srgbClr val="3B82F6"/>
                </a:solidFill>
              </a:defRPr>
            </a:pPr>
            <a:r>
              <a:t>What is SARS?</a:t>
            </a:r>
          </a:p>
        </p:txBody>
      </p:sp>
      <p:sp>
        <p:nvSpPr>
          <p:cNvPr id="7" name="TextBox 6"/>
          <p:cNvSpPr txBox="1"/>
          <p:nvPr/>
        </p:nvSpPr>
        <p:spPr>
          <a:xfrm>
            <a:off x="1097280" y="1783080"/>
            <a:ext cx="10058400" cy="2743200"/>
          </a:xfrm>
          <a:prstGeom prst="rect">
            <a:avLst/>
          </a:prstGeom>
          <a:noFill/>
        </p:spPr>
        <p:txBody>
          <a:bodyPr wrap="square">
            <a:spAutoFit/>
          </a:bodyPr>
          <a:lstStyle/>
          <a:p>
            <a:pPr algn="l">
              <a:defRPr sz="1200">
                <a:solidFill>
                  <a:srgbClr val="F1F5F9"/>
                </a:solidFill>
              </a:defRPr>
            </a:pPr>
            <a:r>
              <a:t>Academic institutions collect extensive student performance data but lack tools to convert it into early, actionable risk intelligence. SARS is an end-to-end AI platform that automatically extracts grades from official grade sheet photos using Google Gemini Vision AI, computes a transparent SARS Risk Score (0–100) based on GPA, backlogs, and attendance, and provides a RAG-based advisory chatbot that grounds every answer in the student's own academic data with source citations. The system serves both students and faculty through dedicated dashboards, enabling early intervention before academic risk becomes irreversible.</a:t>
            </a:r>
          </a:p>
        </p:txBody>
      </p:sp>
      <p:sp>
        <p:nvSpPr>
          <p:cNvPr id="8" name="Rectangle 7"/>
          <p:cNvSpPr/>
          <p:nvPr/>
        </p:nvSpPr>
        <p:spPr>
          <a:xfrm>
            <a:off x="1097280" y="5120640"/>
            <a:ext cx="3017520" cy="91440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5257800"/>
            <a:ext cx="2834639" cy="640080"/>
          </a:xfrm>
          <a:prstGeom prst="rect">
            <a:avLst/>
          </a:prstGeom>
          <a:noFill/>
        </p:spPr>
        <p:txBody>
          <a:bodyPr wrap="none">
            <a:spAutoFit/>
          </a:bodyPr>
          <a:lstStyle/>
          <a:p>
            <a:pPr algn="ctr">
              <a:defRPr sz="1200" b="1">
                <a:solidFill>
                  <a:srgbClr val="06B6D4"/>
                </a:solidFill>
              </a:defRPr>
            </a:pPr>
            <a:r>
              <a:t>AI Vision</a:t>
            </a:r>
          </a:p>
          <a:p>
            <a:r>
              <a:t>Extraction</a:t>
            </a:r>
          </a:p>
        </p:txBody>
      </p:sp>
      <p:sp>
        <p:nvSpPr>
          <p:cNvPr id="10" name="Rectangle 9"/>
          <p:cNvSpPr/>
          <p:nvPr/>
        </p:nvSpPr>
        <p:spPr>
          <a:xfrm>
            <a:off x="4572000" y="5120640"/>
            <a:ext cx="3017520" cy="91440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5257800"/>
            <a:ext cx="2834639" cy="640080"/>
          </a:xfrm>
          <a:prstGeom prst="rect">
            <a:avLst/>
          </a:prstGeom>
          <a:noFill/>
        </p:spPr>
        <p:txBody>
          <a:bodyPr wrap="none">
            <a:spAutoFit/>
          </a:bodyPr>
          <a:lstStyle/>
          <a:p>
            <a:pPr algn="ctr">
              <a:defRPr sz="1200" b="1">
                <a:solidFill>
                  <a:srgbClr val="06B6D4"/>
                </a:solidFill>
              </a:defRPr>
            </a:pPr>
            <a:r>
              <a:t>Risk Score</a:t>
            </a:r>
          </a:p>
          <a:p>
            <a:r>
              <a:t>0-100</a:t>
            </a:r>
          </a:p>
        </p:txBody>
      </p:sp>
      <p:sp>
        <p:nvSpPr>
          <p:cNvPr id="12" name="Rectangle 11"/>
          <p:cNvSpPr/>
          <p:nvPr/>
        </p:nvSpPr>
        <p:spPr>
          <a:xfrm>
            <a:off x="8046720" y="5120640"/>
            <a:ext cx="3017520" cy="91440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5257800"/>
            <a:ext cx="2834639" cy="640080"/>
          </a:xfrm>
          <a:prstGeom prst="rect">
            <a:avLst/>
          </a:prstGeom>
          <a:noFill/>
        </p:spPr>
        <p:txBody>
          <a:bodyPr wrap="none">
            <a:spAutoFit/>
          </a:bodyPr>
          <a:lstStyle/>
          <a:p>
            <a:pPr algn="ctr">
              <a:defRPr sz="1200" b="1">
                <a:solidFill>
                  <a:srgbClr val="06B6D4"/>
                </a:solidFill>
              </a:defRPr>
            </a:pPr>
            <a:r>
              <a:t>RAG Advisory</a:t>
            </a:r>
          </a:p>
          <a:p>
            <a:r>
              <a:t>Chat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3657600" cy="457200"/>
          </a:xfrm>
          <a:prstGeom prst="rect">
            <a:avLst/>
          </a:prstGeom>
          <a:noFill/>
        </p:spPr>
        <p:txBody>
          <a:bodyPr wrap="none">
            <a:spAutoFit/>
          </a:bodyPr>
          <a:lstStyle/>
          <a:p>
            <a:pPr>
              <a:defRPr sz="1600" b="1">
                <a:solidFill>
                  <a:srgbClr val="3B82F6"/>
                </a:solidFill>
              </a:defRPr>
            </a:pPr>
            <a:r>
              <a:t>02 — Introduction</a:t>
            </a:r>
          </a:p>
        </p:txBody>
      </p:sp>
      <p:sp>
        <p:nvSpPr>
          <p:cNvPr id="3" name="TextBox 2"/>
          <p:cNvSpPr txBox="1"/>
          <p:nvPr/>
        </p:nvSpPr>
        <p:spPr>
          <a:xfrm>
            <a:off x="274320" y="6446520"/>
            <a:ext cx="2743200" cy="365760"/>
          </a:xfrm>
          <a:prstGeom prst="rect">
            <a:avLst/>
          </a:prstGeom>
          <a:noFill/>
        </p:spPr>
        <p:txBody>
          <a:bodyPr wrap="none">
            <a:spAutoFit/>
          </a:bodyPr>
          <a:lstStyle/>
          <a:p>
            <a:pPr>
              <a:defRPr sz="1000">
                <a:solidFill>
                  <a:srgbClr val="94A3B8"/>
                </a:solidFill>
              </a:defRPr>
            </a:pPr>
            <a:r>
              <a:t>SARS | SNIST 2024-25</a:t>
            </a:r>
          </a:p>
        </p:txBody>
      </p:sp>
      <p:sp>
        <p:nvSpPr>
          <p:cNvPr id="4" name="TextBox 3"/>
          <p:cNvSpPr txBox="1"/>
          <p:nvPr/>
        </p:nvSpPr>
        <p:spPr>
          <a:xfrm>
            <a:off x="10515600" y="6446520"/>
            <a:ext cx="1371600" cy="365760"/>
          </a:xfrm>
          <a:prstGeom prst="rect">
            <a:avLst/>
          </a:prstGeom>
          <a:noFill/>
        </p:spPr>
        <p:txBody>
          <a:bodyPr wrap="none">
            <a:spAutoFit/>
          </a:bodyPr>
          <a:lstStyle/>
          <a:p>
            <a:pPr algn="r">
              <a:defRPr sz="1000">
                <a:solidFill>
                  <a:srgbClr val="94A3B8"/>
                </a:solidFill>
              </a:defRPr>
            </a:pPr>
            <a:r>
              <a:t>Slide 4 / 19</a:t>
            </a:r>
          </a:p>
        </p:txBody>
      </p:sp>
      <p:sp>
        <p:nvSpPr>
          <p:cNvPr id="5" name="Rectangle 4"/>
          <p:cNvSpPr/>
          <p:nvPr/>
        </p:nvSpPr>
        <p:spPr>
          <a:xfrm>
            <a:off x="457200" y="1097280"/>
            <a:ext cx="5486400" cy="5029200"/>
          </a:xfrm>
          <a:prstGeom prst="rect">
            <a:avLst/>
          </a:prstGeom>
          <a:solidFill>
            <a:srgbClr val="1E293B"/>
          </a:solidFill>
          <a:ln w="381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34440"/>
            <a:ext cx="5120640" cy="365760"/>
          </a:xfrm>
          <a:prstGeom prst="rect">
            <a:avLst/>
          </a:prstGeom>
          <a:noFill/>
        </p:spPr>
        <p:txBody>
          <a:bodyPr wrap="none">
            <a:spAutoFit/>
          </a:bodyPr>
          <a:lstStyle/>
          <a:p>
            <a:pPr>
              <a:defRPr sz="1600" b="1">
                <a:solidFill>
                  <a:srgbClr val="F59E0B"/>
                </a:solidFill>
              </a:defRPr>
            </a:pPr>
            <a:r>
              <a:t>The Challenge</a:t>
            </a:r>
          </a:p>
        </p:txBody>
      </p:sp>
      <p:sp>
        <p:nvSpPr>
          <p:cNvPr id="7" name="TextBox 6"/>
          <p:cNvSpPr txBox="1"/>
          <p:nvPr/>
        </p:nvSpPr>
        <p:spPr>
          <a:xfrm>
            <a:off x="731520" y="1691640"/>
            <a:ext cx="4937760" cy="4114800"/>
          </a:xfrm>
          <a:prstGeom prst="rect">
            <a:avLst/>
          </a:prstGeom>
          <a:noFill/>
        </p:spPr>
        <p:txBody>
          <a:bodyPr wrap="square">
            <a:spAutoFit/>
          </a:bodyPr>
          <a:lstStyle/>
          <a:p>
            <a:pPr>
              <a:spcBef>
                <a:spcPts val="400"/>
              </a:spcBef>
              <a:defRPr sz="1100">
                <a:solidFill>
                  <a:srgbClr val="F1F5F9"/>
                </a:solidFill>
              </a:defRPr>
            </a:pPr>
            <a:r>
              <a:t>⚠️  Students fail placements due to undetected low CGPA</a:t>
            </a:r>
          </a:p>
          <a:p>
            <a:pPr>
              <a:spcBef>
                <a:spcPts val="400"/>
              </a:spcBef>
              <a:defRPr sz="1100">
                <a:solidFill>
                  <a:srgbClr val="F1F5F9"/>
                </a:solidFill>
              </a:defRPr>
            </a:pPr>
            <a:r>
              <a:t>⚠️  Faculty manually review grade sheets — slow and error-prone</a:t>
            </a:r>
          </a:p>
          <a:p>
            <a:pPr>
              <a:spcBef>
                <a:spcPts val="400"/>
              </a:spcBef>
              <a:defRPr sz="1100">
                <a:solidFill>
                  <a:srgbClr val="F1F5F9"/>
                </a:solidFill>
              </a:defRPr>
            </a:pPr>
            <a:r>
              <a:t>⚠️  Risk identified AFTER exams — too late to intervene</a:t>
            </a:r>
          </a:p>
          <a:p>
            <a:pPr>
              <a:spcBef>
                <a:spcPts val="400"/>
              </a:spcBef>
              <a:defRPr sz="1100">
                <a:solidFill>
                  <a:srgbClr val="F1F5F9"/>
                </a:solidFill>
              </a:defRPr>
            </a:pPr>
            <a:r>
              <a:t>⚠️  No unified view of grades, attendance, and backlogs</a:t>
            </a:r>
          </a:p>
          <a:p>
            <a:pPr>
              <a:spcBef>
                <a:spcPts val="400"/>
              </a:spcBef>
              <a:defRPr sz="1100">
                <a:solidFill>
                  <a:srgbClr val="F1F5F9"/>
                </a:solidFill>
              </a:defRPr>
            </a:pPr>
            <a:r>
              <a:t>⚠️  Predictive systems give opaque scores — no explanation</a:t>
            </a:r>
          </a:p>
        </p:txBody>
      </p:sp>
      <p:sp>
        <p:nvSpPr>
          <p:cNvPr id="8" name="Rectangle 7"/>
          <p:cNvSpPr/>
          <p:nvPr/>
        </p:nvSpPr>
        <p:spPr>
          <a:xfrm>
            <a:off x="6248095" y="1097280"/>
            <a:ext cx="5486400" cy="5029200"/>
          </a:xfrm>
          <a:prstGeom prst="rect">
            <a:avLst/>
          </a:prstGeom>
          <a:solidFill>
            <a:srgbClr val="1E293B"/>
          </a:solidFill>
          <a:ln w="381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2" y="1234440"/>
            <a:ext cx="5120640" cy="365760"/>
          </a:xfrm>
          <a:prstGeom prst="rect">
            <a:avLst/>
          </a:prstGeom>
          <a:noFill/>
        </p:spPr>
        <p:txBody>
          <a:bodyPr wrap="none">
            <a:spAutoFit/>
          </a:bodyPr>
          <a:lstStyle/>
          <a:p>
            <a:pPr>
              <a:defRPr sz="1600" b="1">
                <a:solidFill>
                  <a:srgbClr val="06B6D4"/>
                </a:solidFill>
              </a:defRPr>
            </a:pPr>
            <a:r>
              <a:t>Domain Context</a:t>
            </a:r>
          </a:p>
        </p:txBody>
      </p:sp>
      <p:sp>
        <p:nvSpPr>
          <p:cNvPr id="10" name="TextBox 9"/>
          <p:cNvSpPr txBox="1"/>
          <p:nvPr/>
        </p:nvSpPr>
        <p:spPr>
          <a:xfrm>
            <a:off x="6428232" y="1691640"/>
            <a:ext cx="4937760" cy="4114800"/>
          </a:xfrm>
          <a:prstGeom prst="rect">
            <a:avLst/>
          </a:prstGeom>
          <a:noFill/>
        </p:spPr>
        <p:txBody>
          <a:bodyPr wrap="square">
            <a:spAutoFit/>
          </a:bodyPr>
          <a:lstStyle/>
          <a:p>
            <a:pPr>
              <a:spcBef>
                <a:spcPts val="400"/>
              </a:spcBef>
              <a:defRPr sz="1100">
                <a:solidFill>
                  <a:srgbClr val="F1F5F9"/>
                </a:solidFill>
              </a:defRPr>
            </a:pPr>
            <a:r>
              <a:t>✅  Educational Technology &amp; Learning Analytics</a:t>
            </a:r>
          </a:p>
          <a:p>
            <a:pPr>
              <a:spcBef>
                <a:spcPts val="400"/>
              </a:spcBef>
              <a:defRPr sz="1100">
                <a:solidFill>
                  <a:srgbClr val="F1F5F9"/>
                </a:solidFill>
              </a:defRPr>
            </a:pPr>
            <a:r>
              <a:t>✅  Explainable AI, Student Success Analytics</a:t>
            </a:r>
          </a:p>
          <a:p>
            <a:pPr>
              <a:spcBef>
                <a:spcPts val="400"/>
              </a:spcBef>
              <a:defRPr sz="1100">
                <a:solidFill>
                  <a:srgbClr val="F1F5F9"/>
                </a:solidFill>
              </a:defRPr>
            </a:pPr>
            <a:r>
              <a:t>✅  SNIST — JNTUH Affiliated Institution</a:t>
            </a:r>
          </a:p>
          <a:p>
            <a:pPr>
              <a:spcBef>
                <a:spcPts val="400"/>
              </a:spcBef>
              <a:defRPr sz="1100">
                <a:solidFill>
                  <a:srgbClr val="F1F5F9"/>
                </a:solidFill>
              </a:defRPr>
            </a:pPr>
            <a:r>
              <a:t>✅  B.Tech students across all 8 semesters</a:t>
            </a:r>
          </a:p>
          <a:p>
            <a:pPr>
              <a:spcBef>
                <a:spcPts val="400"/>
              </a:spcBef>
              <a:defRPr sz="1100">
                <a:solidFill>
                  <a:srgbClr val="F1F5F9"/>
                </a:solidFill>
              </a:defRPr>
            </a:pPr>
            <a:r>
              <a:t>✅  Placement threshold: 7.5 CGPA minimum at SNIST</a:t>
            </a:r>
          </a:p>
        </p:txBody>
      </p:sp>
      <p:sp>
        <p:nvSpPr>
          <p:cNvPr id="11" name="Rectangle 10"/>
          <p:cNvSpPr/>
          <p:nvPr/>
        </p:nvSpPr>
        <p:spPr>
          <a:xfrm>
            <a:off x="457200" y="6400800"/>
            <a:ext cx="11277295" cy="320040"/>
          </a:xfrm>
          <a:prstGeom prst="rect">
            <a:avLst/>
          </a:prstGeom>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6446520"/>
            <a:ext cx="10972800" cy="228600"/>
          </a:xfrm>
          <a:prstGeom prst="rect">
            <a:avLst/>
          </a:prstGeom>
          <a:noFill/>
        </p:spPr>
        <p:txBody>
          <a:bodyPr wrap="none">
            <a:spAutoFit/>
          </a:bodyPr>
          <a:lstStyle/>
          <a:p>
            <a:pPr algn="ctr">
              <a:defRPr sz="1100" b="1">
                <a:solidFill>
                  <a:srgbClr val="F1F5F9"/>
                </a:solidFill>
              </a:defRPr>
            </a:pPr>
            <a:r>
              <a:t>Early identification of at-risk students is the single most impactful intervention an institution can make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3657600" cy="457200"/>
          </a:xfrm>
          <a:prstGeom prst="rect">
            <a:avLst/>
          </a:prstGeom>
          <a:noFill/>
        </p:spPr>
        <p:txBody>
          <a:bodyPr wrap="none">
            <a:spAutoFit/>
          </a:bodyPr>
          <a:lstStyle/>
          <a:p>
            <a:pPr>
              <a:defRPr sz="1600" b="1">
                <a:solidFill>
                  <a:srgbClr val="3B82F6"/>
                </a:solidFill>
              </a:defRPr>
            </a:pPr>
            <a:r>
              <a:t>03 — Existing System</a:t>
            </a:r>
          </a:p>
        </p:txBody>
      </p:sp>
      <p:sp>
        <p:nvSpPr>
          <p:cNvPr id="3" name="TextBox 2"/>
          <p:cNvSpPr txBox="1"/>
          <p:nvPr/>
        </p:nvSpPr>
        <p:spPr>
          <a:xfrm>
            <a:off x="274320" y="6446520"/>
            <a:ext cx="2743200" cy="365760"/>
          </a:xfrm>
          <a:prstGeom prst="rect">
            <a:avLst/>
          </a:prstGeom>
          <a:noFill/>
        </p:spPr>
        <p:txBody>
          <a:bodyPr wrap="none">
            <a:spAutoFit/>
          </a:bodyPr>
          <a:lstStyle/>
          <a:p>
            <a:pPr>
              <a:defRPr sz="1000">
                <a:solidFill>
                  <a:srgbClr val="94A3B8"/>
                </a:solidFill>
              </a:defRPr>
            </a:pPr>
            <a:r>
              <a:t>SARS | SNIST 2024-25</a:t>
            </a:r>
          </a:p>
        </p:txBody>
      </p:sp>
      <p:sp>
        <p:nvSpPr>
          <p:cNvPr id="4" name="TextBox 3"/>
          <p:cNvSpPr txBox="1"/>
          <p:nvPr/>
        </p:nvSpPr>
        <p:spPr>
          <a:xfrm>
            <a:off x="10515600" y="6446520"/>
            <a:ext cx="1371600" cy="365760"/>
          </a:xfrm>
          <a:prstGeom prst="rect">
            <a:avLst/>
          </a:prstGeom>
          <a:noFill/>
        </p:spPr>
        <p:txBody>
          <a:bodyPr wrap="none">
            <a:spAutoFit/>
          </a:bodyPr>
          <a:lstStyle/>
          <a:p>
            <a:pPr algn="r">
              <a:defRPr sz="1000">
                <a:solidFill>
                  <a:srgbClr val="94A3B8"/>
                </a:solidFill>
              </a:defRPr>
            </a:pPr>
            <a:r>
              <a:t>Slide 5 / 19</a:t>
            </a:r>
          </a:p>
        </p:txBody>
      </p:sp>
      <p:sp>
        <p:nvSpPr>
          <p:cNvPr id="5" name="Rectangle 4"/>
          <p:cNvSpPr/>
          <p:nvPr/>
        </p:nvSpPr>
        <p:spPr>
          <a:xfrm>
            <a:off x="731520" y="1188720"/>
            <a:ext cx="2011680" cy="914400"/>
          </a:xfrm>
          <a:prstGeom prst="rect">
            <a:avLst/>
          </a:prstGeom>
          <a:solidFill>
            <a:srgbClr val="641E1E"/>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280160"/>
            <a:ext cx="1828800" cy="731520"/>
          </a:xfrm>
          <a:prstGeom prst="rect">
            <a:avLst/>
          </a:prstGeom>
          <a:noFill/>
        </p:spPr>
        <p:txBody>
          <a:bodyPr wrap="square">
            <a:spAutoFit/>
          </a:bodyPr>
          <a:lstStyle/>
          <a:p>
            <a:pPr algn="ctr">
              <a:defRPr sz="1000" b="1">
                <a:solidFill>
                  <a:srgbClr val="F1F5F9"/>
                </a:solidFill>
              </a:defRPr>
            </a:pPr>
            <a:r>
              <a:t>Grade Sheets</a:t>
            </a:r>
          </a:p>
          <a:p>
            <a:r>
              <a:t>Printed</a:t>
            </a:r>
          </a:p>
        </p:txBody>
      </p:sp>
      <p:cxnSp>
        <p:nvCxnSpPr>
          <p:cNvPr id="7" name="Connector 6"/>
          <p:cNvCxnSpPr/>
          <p:nvPr/>
        </p:nvCxnSpPr>
        <p:spPr>
          <a:xfrm>
            <a:off x="2834640" y="1645920"/>
            <a:ext cx="274320"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926080" y="1188720"/>
            <a:ext cx="2011680" cy="914400"/>
          </a:xfrm>
          <a:prstGeom prst="rect">
            <a:avLst/>
          </a:prstGeom>
          <a:solidFill>
            <a:srgbClr val="641E1E"/>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20" y="1280160"/>
            <a:ext cx="1828800" cy="731520"/>
          </a:xfrm>
          <a:prstGeom prst="rect">
            <a:avLst/>
          </a:prstGeom>
          <a:noFill/>
        </p:spPr>
        <p:txBody>
          <a:bodyPr wrap="square">
            <a:spAutoFit/>
          </a:bodyPr>
          <a:lstStyle/>
          <a:p>
            <a:pPr algn="ctr">
              <a:defRPr sz="1000" b="1">
                <a:solidFill>
                  <a:srgbClr val="F1F5F9"/>
                </a:solidFill>
              </a:defRPr>
            </a:pPr>
            <a:r>
              <a:t>Faculty Manually</a:t>
            </a:r>
          </a:p>
          <a:p>
            <a:r>
              <a:t>Reviews</a:t>
            </a:r>
          </a:p>
        </p:txBody>
      </p:sp>
      <p:cxnSp>
        <p:nvCxnSpPr>
          <p:cNvPr id="10" name="Connector 9"/>
          <p:cNvCxnSpPr/>
          <p:nvPr/>
        </p:nvCxnSpPr>
        <p:spPr>
          <a:xfrm>
            <a:off x="5029200" y="1645920"/>
            <a:ext cx="274320"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5120640" y="1188720"/>
            <a:ext cx="2011680" cy="914400"/>
          </a:xfrm>
          <a:prstGeom prst="rect">
            <a:avLst/>
          </a:prstGeom>
          <a:solidFill>
            <a:srgbClr val="641E1E"/>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1280160"/>
            <a:ext cx="1828800" cy="731520"/>
          </a:xfrm>
          <a:prstGeom prst="rect">
            <a:avLst/>
          </a:prstGeom>
          <a:noFill/>
        </p:spPr>
        <p:txBody>
          <a:bodyPr wrap="square">
            <a:spAutoFit/>
          </a:bodyPr>
          <a:lstStyle/>
          <a:p>
            <a:pPr algn="ctr">
              <a:defRPr sz="1000" b="1">
                <a:solidFill>
                  <a:srgbClr val="F1F5F9"/>
                </a:solidFill>
              </a:defRPr>
            </a:pPr>
            <a:r>
              <a:t>Excel/Register</a:t>
            </a:r>
          </a:p>
          <a:p>
            <a:r>
              <a:t>Updated</a:t>
            </a:r>
          </a:p>
        </p:txBody>
      </p:sp>
      <p:cxnSp>
        <p:nvCxnSpPr>
          <p:cNvPr id="13" name="Connector 12"/>
          <p:cNvCxnSpPr/>
          <p:nvPr/>
        </p:nvCxnSpPr>
        <p:spPr>
          <a:xfrm>
            <a:off x="7223760" y="1645920"/>
            <a:ext cx="274320"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7315200" y="1188720"/>
            <a:ext cx="2011680" cy="914400"/>
          </a:xfrm>
          <a:prstGeom prst="rect">
            <a:avLst/>
          </a:prstGeom>
          <a:solidFill>
            <a:srgbClr val="641E1E"/>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1280160"/>
            <a:ext cx="1828800" cy="731520"/>
          </a:xfrm>
          <a:prstGeom prst="rect">
            <a:avLst/>
          </a:prstGeom>
          <a:noFill/>
        </p:spPr>
        <p:txBody>
          <a:bodyPr wrap="square">
            <a:spAutoFit/>
          </a:bodyPr>
          <a:lstStyle/>
          <a:p>
            <a:pPr algn="ctr">
              <a:defRPr sz="1000" b="1">
                <a:solidFill>
                  <a:srgbClr val="F1F5F9"/>
                </a:solidFill>
              </a:defRPr>
            </a:pPr>
            <a:r>
              <a:t>Risk Identified</a:t>
            </a:r>
          </a:p>
          <a:p>
            <a:r>
              <a:t>Late</a:t>
            </a:r>
          </a:p>
        </p:txBody>
      </p:sp>
      <p:cxnSp>
        <p:nvCxnSpPr>
          <p:cNvPr id="16" name="Connector 15"/>
          <p:cNvCxnSpPr/>
          <p:nvPr/>
        </p:nvCxnSpPr>
        <p:spPr>
          <a:xfrm>
            <a:off x="9418320" y="1645920"/>
            <a:ext cx="274320"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9509760" y="1188720"/>
            <a:ext cx="2011680" cy="914400"/>
          </a:xfrm>
          <a:prstGeom prst="rect">
            <a:avLst/>
          </a:prstGeom>
          <a:solidFill>
            <a:srgbClr val="641E1E"/>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0" y="1280160"/>
            <a:ext cx="1828800" cy="731520"/>
          </a:xfrm>
          <a:prstGeom prst="rect">
            <a:avLst/>
          </a:prstGeom>
          <a:noFill/>
        </p:spPr>
        <p:txBody>
          <a:bodyPr wrap="square">
            <a:spAutoFit/>
          </a:bodyPr>
          <a:lstStyle/>
          <a:p>
            <a:pPr algn="ctr">
              <a:defRPr sz="1000" b="1">
                <a:solidFill>
                  <a:srgbClr val="F1F5F9"/>
                </a:solidFill>
              </a:defRPr>
            </a:pPr>
            <a:r>
              <a:t>Intervention</a:t>
            </a:r>
          </a:p>
          <a:p>
            <a:r>
              <a:t>Too Late</a:t>
            </a:r>
          </a:p>
        </p:txBody>
      </p:sp>
      <p:sp>
        <p:nvSpPr>
          <p:cNvPr id="19" name="Rectangle 18"/>
          <p:cNvSpPr/>
          <p:nvPr/>
        </p:nvSpPr>
        <p:spPr>
          <a:xfrm>
            <a:off x="731520" y="2377440"/>
            <a:ext cx="3474720" cy="1371600"/>
          </a:xfrm>
          <a:prstGeom prst="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468880"/>
            <a:ext cx="3200400" cy="1188720"/>
          </a:xfrm>
          <a:prstGeom prst="rect">
            <a:avLst/>
          </a:prstGeom>
          <a:noFill/>
        </p:spPr>
        <p:txBody>
          <a:bodyPr wrap="square" anchor="ctr">
            <a:spAutoFit/>
          </a:bodyPr>
          <a:lstStyle/>
          <a:p>
            <a:pPr algn="ctr">
              <a:defRPr sz="1000">
                <a:solidFill>
                  <a:srgbClr val="F1F5F9"/>
                </a:solidFill>
              </a:defRPr>
            </a:pPr>
            <a:r>
              <a:t>❌ Manual Process</a:t>
            </a:r>
          </a:p>
          <a:p>
            <a:r>
              <a:t>— Error prone,</a:t>
            </a:r>
          </a:p>
          <a:p>
            <a:r>
              <a:t>time consuming</a:t>
            </a:r>
          </a:p>
        </p:txBody>
      </p:sp>
      <p:sp>
        <p:nvSpPr>
          <p:cNvPr id="21" name="Rectangle 20"/>
          <p:cNvSpPr/>
          <p:nvPr/>
        </p:nvSpPr>
        <p:spPr>
          <a:xfrm>
            <a:off x="4389120" y="2377440"/>
            <a:ext cx="3474720" cy="1371600"/>
          </a:xfrm>
          <a:prstGeom prst="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26280" y="2468880"/>
            <a:ext cx="3200400" cy="1188720"/>
          </a:xfrm>
          <a:prstGeom prst="rect">
            <a:avLst/>
          </a:prstGeom>
          <a:noFill/>
        </p:spPr>
        <p:txBody>
          <a:bodyPr wrap="square" anchor="ctr">
            <a:spAutoFit/>
          </a:bodyPr>
          <a:lstStyle/>
          <a:p>
            <a:pPr algn="ctr">
              <a:defRPr sz="1000">
                <a:solidFill>
                  <a:srgbClr val="F1F5F9"/>
                </a:solidFill>
              </a:defRPr>
            </a:pPr>
            <a:r>
              <a:t>❌ Late Detection</a:t>
            </a:r>
          </a:p>
          <a:p>
            <a:r>
              <a:t>— After exams,</a:t>
            </a:r>
          </a:p>
          <a:p>
            <a:r>
              <a:t>not before</a:t>
            </a:r>
          </a:p>
        </p:txBody>
      </p:sp>
      <p:sp>
        <p:nvSpPr>
          <p:cNvPr id="23" name="Rectangle 22"/>
          <p:cNvSpPr/>
          <p:nvPr/>
        </p:nvSpPr>
        <p:spPr>
          <a:xfrm>
            <a:off x="8046720" y="2377440"/>
            <a:ext cx="3474720" cy="1371600"/>
          </a:xfrm>
          <a:prstGeom prst="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83880" y="2468880"/>
            <a:ext cx="3200400" cy="1188720"/>
          </a:xfrm>
          <a:prstGeom prst="rect">
            <a:avLst/>
          </a:prstGeom>
          <a:noFill/>
        </p:spPr>
        <p:txBody>
          <a:bodyPr wrap="square" anchor="ctr">
            <a:spAutoFit/>
          </a:bodyPr>
          <a:lstStyle/>
          <a:p>
            <a:pPr algn="ctr">
              <a:defRPr sz="1000">
                <a:solidFill>
                  <a:srgbClr val="F1F5F9"/>
                </a:solidFill>
              </a:defRPr>
            </a:pPr>
            <a:r>
              <a:t>❌ No Unified View</a:t>
            </a:r>
          </a:p>
          <a:p>
            <a:r>
              <a:t>— Grades, attendance</a:t>
            </a:r>
          </a:p>
          <a:p>
            <a:r>
              <a:t>scattered</a:t>
            </a:r>
          </a:p>
        </p:txBody>
      </p:sp>
      <p:sp>
        <p:nvSpPr>
          <p:cNvPr id="25" name="Rectangle 24"/>
          <p:cNvSpPr/>
          <p:nvPr/>
        </p:nvSpPr>
        <p:spPr>
          <a:xfrm>
            <a:off x="731520" y="4023360"/>
            <a:ext cx="3474720" cy="1371600"/>
          </a:xfrm>
          <a:prstGeom prst="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114800"/>
            <a:ext cx="3200400" cy="1188720"/>
          </a:xfrm>
          <a:prstGeom prst="rect">
            <a:avLst/>
          </a:prstGeom>
          <a:noFill/>
        </p:spPr>
        <p:txBody>
          <a:bodyPr wrap="square" anchor="ctr">
            <a:spAutoFit/>
          </a:bodyPr>
          <a:lstStyle/>
          <a:p>
            <a:pPr algn="ctr">
              <a:defRPr sz="1000">
                <a:solidFill>
                  <a:srgbClr val="F1F5F9"/>
                </a:solidFill>
              </a:defRPr>
            </a:pPr>
            <a:r>
              <a:t>❌ Black Box</a:t>
            </a:r>
          </a:p>
          <a:p>
            <a:r>
              <a:t>Predictions</a:t>
            </a:r>
          </a:p>
          <a:p>
            <a:r>
              <a:t>— No explanations</a:t>
            </a:r>
          </a:p>
        </p:txBody>
      </p:sp>
      <p:sp>
        <p:nvSpPr>
          <p:cNvPr id="27" name="Rectangle 26"/>
          <p:cNvSpPr/>
          <p:nvPr/>
        </p:nvSpPr>
        <p:spPr>
          <a:xfrm>
            <a:off x="4389120" y="4023360"/>
            <a:ext cx="3474720" cy="1371600"/>
          </a:xfrm>
          <a:prstGeom prst="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26280" y="4114800"/>
            <a:ext cx="3200400" cy="1188720"/>
          </a:xfrm>
          <a:prstGeom prst="rect">
            <a:avLst/>
          </a:prstGeom>
          <a:noFill/>
        </p:spPr>
        <p:txBody>
          <a:bodyPr wrap="square" anchor="ctr">
            <a:spAutoFit/>
          </a:bodyPr>
          <a:lstStyle/>
          <a:p>
            <a:pPr algn="ctr">
              <a:defRPr sz="1000">
                <a:solidFill>
                  <a:srgbClr val="F1F5F9"/>
                </a:solidFill>
              </a:defRPr>
            </a:pPr>
            <a:r>
              <a:t>❌ No Advisory</a:t>
            </a:r>
          </a:p>
          <a:p>
            <a:r>
              <a:t>Support</a:t>
            </a:r>
          </a:p>
          <a:p>
            <a:r>
              <a:t>— Students get</a:t>
            </a:r>
          </a:p>
          <a:p>
            <a:r>
              <a:t>no guidance</a:t>
            </a:r>
          </a:p>
        </p:txBody>
      </p:sp>
      <p:sp>
        <p:nvSpPr>
          <p:cNvPr id="29" name="Rectangle 28"/>
          <p:cNvSpPr/>
          <p:nvPr/>
        </p:nvSpPr>
        <p:spPr>
          <a:xfrm>
            <a:off x="8046720" y="4023360"/>
            <a:ext cx="3474720" cy="1371600"/>
          </a:xfrm>
          <a:prstGeom prst="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83880" y="4114800"/>
            <a:ext cx="3200400" cy="1188720"/>
          </a:xfrm>
          <a:prstGeom prst="rect">
            <a:avLst/>
          </a:prstGeom>
          <a:noFill/>
        </p:spPr>
        <p:txBody>
          <a:bodyPr wrap="square" anchor="ctr">
            <a:spAutoFit/>
          </a:bodyPr>
          <a:lstStyle/>
          <a:p>
            <a:pPr algn="ctr">
              <a:defRPr sz="1000">
                <a:solidFill>
                  <a:srgbClr val="F1F5F9"/>
                </a:solidFill>
              </a:defRPr>
            </a:pPr>
            <a:r>
              <a:t>❌ Faculty</a:t>
            </a:r>
          </a:p>
          <a:p>
            <a:r>
              <a:t>Overload</a:t>
            </a:r>
          </a:p>
          <a:p>
            <a:r>
              <a:t>— Manual monitoring</a:t>
            </a:r>
          </a:p>
          <a:p>
            <a:r>
              <a:t>at scale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3657600" cy="457200"/>
          </a:xfrm>
          <a:prstGeom prst="rect">
            <a:avLst/>
          </a:prstGeom>
          <a:noFill/>
        </p:spPr>
        <p:txBody>
          <a:bodyPr wrap="none">
            <a:spAutoFit/>
          </a:bodyPr>
          <a:lstStyle/>
          <a:p>
            <a:pPr>
              <a:defRPr sz="1600" b="1">
                <a:solidFill>
                  <a:srgbClr val="3B82F6"/>
                </a:solidFill>
              </a:defRPr>
            </a:pPr>
            <a:r>
              <a:t>04 — Proposed System</a:t>
            </a:r>
          </a:p>
        </p:txBody>
      </p:sp>
      <p:sp>
        <p:nvSpPr>
          <p:cNvPr id="3" name="TextBox 2"/>
          <p:cNvSpPr txBox="1"/>
          <p:nvPr/>
        </p:nvSpPr>
        <p:spPr>
          <a:xfrm>
            <a:off x="274320" y="6446520"/>
            <a:ext cx="2743200" cy="365760"/>
          </a:xfrm>
          <a:prstGeom prst="rect">
            <a:avLst/>
          </a:prstGeom>
          <a:noFill/>
        </p:spPr>
        <p:txBody>
          <a:bodyPr wrap="none">
            <a:spAutoFit/>
          </a:bodyPr>
          <a:lstStyle/>
          <a:p>
            <a:pPr>
              <a:defRPr sz="1000">
                <a:solidFill>
                  <a:srgbClr val="94A3B8"/>
                </a:solidFill>
              </a:defRPr>
            </a:pPr>
            <a:r>
              <a:t>SARS | SNIST 2024-25</a:t>
            </a:r>
          </a:p>
        </p:txBody>
      </p:sp>
      <p:sp>
        <p:nvSpPr>
          <p:cNvPr id="4" name="TextBox 3"/>
          <p:cNvSpPr txBox="1"/>
          <p:nvPr/>
        </p:nvSpPr>
        <p:spPr>
          <a:xfrm>
            <a:off x="10515600" y="6446520"/>
            <a:ext cx="1371600" cy="365760"/>
          </a:xfrm>
          <a:prstGeom prst="rect">
            <a:avLst/>
          </a:prstGeom>
          <a:noFill/>
        </p:spPr>
        <p:txBody>
          <a:bodyPr wrap="none">
            <a:spAutoFit/>
          </a:bodyPr>
          <a:lstStyle/>
          <a:p>
            <a:pPr algn="r">
              <a:defRPr sz="1000">
                <a:solidFill>
                  <a:srgbClr val="94A3B8"/>
                </a:solidFill>
              </a:defRPr>
            </a:pPr>
            <a:r>
              <a:t>Slide 6 / 19</a:t>
            </a:r>
          </a:p>
        </p:txBody>
      </p:sp>
      <p:sp>
        <p:nvSpPr>
          <p:cNvPr id="5" name="Rectangle 4"/>
          <p:cNvSpPr/>
          <p:nvPr/>
        </p:nvSpPr>
        <p:spPr>
          <a:xfrm>
            <a:off x="731520" y="1097280"/>
            <a:ext cx="10725912" cy="548640"/>
          </a:xfrm>
          <a:prstGeom prst="rect">
            <a:avLst/>
          </a:prstGeom>
          <a:solidFill>
            <a:srgbClr val="1E293B"/>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188720"/>
            <a:ext cx="10360152" cy="365760"/>
          </a:xfrm>
          <a:prstGeom prst="rect">
            <a:avLst/>
          </a:prstGeom>
          <a:noFill/>
        </p:spPr>
        <p:txBody>
          <a:bodyPr wrap="none">
            <a:spAutoFit/>
          </a:bodyPr>
          <a:lstStyle/>
          <a:p>
            <a:pPr algn="ctr">
              <a:defRPr sz="1300" b="1">
                <a:solidFill>
                  <a:srgbClr val="F1F5F9"/>
                </a:solidFill>
              </a:defRPr>
            </a:pPr>
            <a:r>
              <a:t>SARS replaces manual academic monitoring with an intelligent, automated, explainable AI platform that serves both students and faculty in real time.</a:t>
            </a:r>
          </a:p>
        </p:txBody>
      </p:sp>
      <p:sp>
        <p:nvSpPr>
          <p:cNvPr id="7" name="Rectangle 6"/>
          <p:cNvSpPr/>
          <p:nvPr/>
        </p:nvSpPr>
        <p:spPr>
          <a:xfrm>
            <a:off x="731520" y="1920240"/>
            <a:ext cx="3566160" cy="210312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057400"/>
            <a:ext cx="3291840" cy="320040"/>
          </a:xfrm>
          <a:prstGeom prst="rect">
            <a:avLst/>
          </a:prstGeom>
          <a:noFill/>
        </p:spPr>
        <p:txBody>
          <a:bodyPr wrap="none">
            <a:spAutoFit/>
          </a:bodyPr>
          <a:lstStyle/>
          <a:p>
            <a:pPr algn="ctr">
              <a:defRPr sz="1100" b="1">
                <a:solidFill>
                  <a:srgbClr val="3B82F6"/>
                </a:solidFill>
              </a:defRPr>
            </a:pPr>
            <a:r>
              <a:t>🤖 Contribution 1</a:t>
            </a:r>
          </a:p>
        </p:txBody>
      </p:sp>
      <p:sp>
        <p:nvSpPr>
          <p:cNvPr id="9" name="TextBox 8"/>
          <p:cNvSpPr txBox="1"/>
          <p:nvPr/>
        </p:nvSpPr>
        <p:spPr>
          <a:xfrm>
            <a:off x="868680" y="2395728"/>
            <a:ext cx="3291840" cy="365760"/>
          </a:xfrm>
          <a:prstGeom prst="rect">
            <a:avLst/>
          </a:prstGeom>
          <a:noFill/>
        </p:spPr>
        <p:txBody>
          <a:bodyPr wrap="square">
            <a:spAutoFit/>
          </a:bodyPr>
          <a:lstStyle/>
          <a:p>
            <a:pPr algn="ctr">
              <a:defRPr sz="1000" b="1">
                <a:solidFill>
                  <a:srgbClr val="F1F5F9"/>
                </a:solidFill>
              </a:defRPr>
            </a:pPr>
            <a:r>
              <a:t>AI Vision Grade</a:t>
            </a:r>
          </a:p>
          <a:p>
            <a:r>
              <a:t>Extraction</a:t>
            </a:r>
          </a:p>
        </p:txBody>
      </p:sp>
      <p:sp>
        <p:nvSpPr>
          <p:cNvPr id="10" name="TextBox 9"/>
          <p:cNvSpPr txBox="1"/>
          <p:nvPr/>
        </p:nvSpPr>
        <p:spPr>
          <a:xfrm>
            <a:off x="868680" y="2834640"/>
            <a:ext cx="3291840" cy="1005840"/>
          </a:xfrm>
          <a:prstGeom prst="rect">
            <a:avLst/>
          </a:prstGeom>
          <a:noFill/>
        </p:spPr>
        <p:txBody>
          <a:bodyPr wrap="square">
            <a:spAutoFit/>
          </a:bodyPr>
          <a:lstStyle/>
          <a:p>
            <a:pPr algn="ctr">
              <a:defRPr sz="900">
                <a:solidFill>
                  <a:srgbClr val="94A3B8"/>
                </a:solidFill>
              </a:defRPr>
            </a:pPr>
            <a:r>
              <a:t>Upload photo → Gemini reads it</a:t>
            </a:r>
          </a:p>
          <a:p>
            <a:r>
              <a:t>→ Structured data in 10 seconds</a:t>
            </a:r>
          </a:p>
        </p:txBody>
      </p:sp>
      <p:sp>
        <p:nvSpPr>
          <p:cNvPr id="11" name="Rectangle 10"/>
          <p:cNvSpPr/>
          <p:nvPr/>
        </p:nvSpPr>
        <p:spPr>
          <a:xfrm>
            <a:off x="4480559" y="1920240"/>
            <a:ext cx="3566160" cy="2103120"/>
          </a:xfrm>
          <a:prstGeom prst="rect">
            <a:avLst/>
          </a:prstGeom>
          <a:solidFill>
            <a:srgbClr val="1E293B"/>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2057400"/>
            <a:ext cx="3291840" cy="320040"/>
          </a:xfrm>
          <a:prstGeom prst="rect">
            <a:avLst/>
          </a:prstGeom>
          <a:noFill/>
        </p:spPr>
        <p:txBody>
          <a:bodyPr wrap="none">
            <a:spAutoFit/>
          </a:bodyPr>
          <a:lstStyle/>
          <a:p>
            <a:pPr algn="ctr">
              <a:defRPr sz="1100" b="1">
                <a:solidFill>
                  <a:srgbClr val="06B6D4"/>
                </a:solidFill>
              </a:defRPr>
            </a:pPr>
            <a:r>
              <a:t>📊 Contribution 2</a:t>
            </a:r>
          </a:p>
        </p:txBody>
      </p:sp>
      <p:sp>
        <p:nvSpPr>
          <p:cNvPr id="13" name="TextBox 12"/>
          <p:cNvSpPr txBox="1"/>
          <p:nvPr/>
        </p:nvSpPr>
        <p:spPr>
          <a:xfrm>
            <a:off x="4617720" y="2395728"/>
            <a:ext cx="3291840" cy="365760"/>
          </a:xfrm>
          <a:prstGeom prst="rect">
            <a:avLst/>
          </a:prstGeom>
          <a:noFill/>
        </p:spPr>
        <p:txBody>
          <a:bodyPr wrap="square">
            <a:spAutoFit/>
          </a:bodyPr>
          <a:lstStyle/>
          <a:p>
            <a:pPr algn="ctr">
              <a:defRPr sz="1000" b="1">
                <a:solidFill>
                  <a:srgbClr val="F1F5F9"/>
                </a:solidFill>
              </a:defRPr>
            </a:pPr>
            <a:r>
              <a:t>Explainable Risk</a:t>
            </a:r>
          </a:p>
          <a:p>
            <a:r>
              <a:t>Scoring</a:t>
            </a:r>
          </a:p>
        </p:txBody>
      </p:sp>
      <p:sp>
        <p:nvSpPr>
          <p:cNvPr id="14" name="TextBox 13"/>
          <p:cNvSpPr txBox="1"/>
          <p:nvPr/>
        </p:nvSpPr>
        <p:spPr>
          <a:xfrm>
            <a:off x="4617720" y="2834640"/>
            <a:ext cx="3291840" cy="1005840"/>
          </a:xfrm>
          <a:prstGeom prst="rect">
            <a:avLst/>
          </a:prstGeom>
          <a:noFill/>
        </p:spPr>
        <p:txBody>
          <a:bodyPr wrap="square">
            <a:spAutoFit/>
          </a:bodyPr>
          <a:lstStyle/>
          <a:p>
            <a:pPr algn="ctr">
              <a:defRPr sz="900">
                <a:solidFill>
                  <a:srgbClr val="94A3B8"/>
                </a:solidFill>
              </a:defRPr>
            </a:pPr>
            <a:r>
              <a:t>Credits-weighted CGPA</a:t>
            </a:r>
          </a:p>
          <a:p>
            <a:r>
              <a:t>→ SARS Score 0-100 with</a:t>
            </a:r>
          </a:p>
          <a:p>
            <a:r>
              <a:t>factor breakdown</a:t>
            </a:r>
          </a:p>
        </p:txBody>
      </p:sp>
      <p:sp>
        <p:nvSpPr>
          <p:cNvPr id="15" name="Rectangle 14"/>
          <p:cNvSpPr/>
          <p:nvPr/>
        </p:nvSpPr>
        <p:spPr>
          <a:xfrm>
            <a:off x="8229600" y="1920240"/>
            <a:ext cx="3566160" cy="2103120"/>
          </a:xfrm>
          <a:prstGeom prst="rect">
            <a:avLst/>
          </a:prstGeom>
          <a:solidFill>
            <a:srgbClr val="1E293B"/>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2057400"/>
            <a:ext cx="3291840" cy="320040"/>
          </a:xfrm>
          <a:prstGeom prst="rect">
            <a:avLst/>
          </a:prstGeom>
          <a:noFill/>
        </p:spPr>
        <p:txBody>
          <a:bodyPr wrap="none">
            <a:spAutoFit/>
          </a:bodyPr>
          <a:lstStyle/>
          <a:p>
            <a:pPr algn="ctr">
              <a:defRPr sz="1100" b="1">
                <a:solidFill>
                  <a:srgbClr val="22C55E"/>
                </a:solidFill>
              </a:defRPr>
            </a:pPr>
            <a:r>
              <a:t>💬 Contribution 3</a:t>
            </a:r>
          </a:p>
        </p:txBody>
      </p:sp>
      <p:sp>
        <p:nvSpPr>
          <p:cNvPr id="17" name="TextBox 16"/>
          <p:cNvSpPr txBox="1"/>
          <p:nvPr/>
        </p:nvSpPr>
        <p:spPr>
          <a:xfrm>
            <a:off x="8366760" y="2395728"/>
            <a:ext cx="3291840" cy="365760"/>
          </a:xfrm>
          <a:prstGeom prst="rect">
            <a:avLst/>
          </a:prstGeom>
          <a:noFill/>
        </p:spPr>
        <p:txBody>
          <a:bodyPr wrap="square">
            <a:spAutoFit/>
          </a:bodyPr>
          <a:lstStyle/>
          <a:p>
            <a:pPr algn="ctr">
              <a:defRPr sz="1000" b="1">
                <a:solidFill>
                  <a:srgbClr val="F1F5F9"/>
                </a:solidFill>
              </a:defRPr>
            </a:pPr>
            <a:r>
              <a:t>RAG Advisory</a:t>
            </a:r>
          </a:p>
          <a:p>
            <a:r>
              <a:t>Chat</a:t>
            </a:r>
          </a:p>
        </p:txBody>
      </p:sp>
      <p:sp>
        <p:nvSpPr>
          <p:cNvPr id="18" name="TextBox 17"/>
          <p:cNvSpPr txBox="1"/>
          <p:nvPr/>
        </p:nvSpPr>
        <p:spPr>
          <a:xfrm>
            <a:off x="8366760" y="2834640"/>
            <a:ext cx="3291840" cy="1005840"/>
          </a:xfrm>
          <a:prstGeom prst="rect">
            <a:avLst/>
          </a:prstGeom>
          <a:noFill/>
        </p:spPr>
        <p:txBody>
          <a:bodyPr wrap="square">
            <a:spAutoFit/>
          </a:bodyPr>
          <a:lstStyle/>
          <a:p>
            <a:pPr algn="ctr">
              <a:defRPr sz="900">
                <a:solidFill>
                  <a:srgbClr val="94A3B8"/>
                </a:solidFill>
              </a:defRPr>
            </a:pPr>
            <a:r>
              <a:t>Student asks question</a:t>
            </a:r>
          </a:p>
          <a:p>
            <a:r>
              <a:t>→ Grounded answer +</a:t>
            </a:r>
          </a:p>
          <a:p>
            <a:r>
              <a:t>source citations</a:t>
            </a:r>
          </a:p>
        </p:txBody>
      </p:sp>
      <p:sp>
        <p:nvSpPr>
          <p:cNvPr id="19" name="Rectangle 18"/>
          <p:cNvSpPr/>
          <p:nvPr/>
        </p:nvSpPr>
        <p:spPr>
          <a:xfrm>
            <a:off x="731520" y="4251960"/>
            <a:ext cx="10725912" cy="1828800"/>
          </a:xfrm>
          <a:prstGeom prst="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343400"/>
            <a:ext cx="5120640" cy="320040"/>
          </a:xfrm>
          <a:prstGeom prst="rect">
            <a:avLst/>
          </a:prstGeom>
          <a:noFill/>
        </p:spPr>
        <p:txBody>
          <a:bodyPr wrap="none">
            <a:spAutoFit/>
          </a:bodyPr>
          <a:lstStyle/>
          <a:p>
            <a:pPr algn="ctr">
              <a:defRPr sz="1100" b="1">
                <a:solidFill>
                  <a:srgbClr val="3B82F6"/>
                </a:solidFill>
              </a:defRPr>
            </a:pPr>
            <a:r>
              <a:t>Existing System</a:t>
            </a:r>
          </a:p>
        </p:txBody>
      </p:sp>
      <p:sp>
        <p:nvSpPr>
          <p:cNvPr id="21" name="TextBox 20"/>
          <p:cNvSpPr txBox="1"/>
          <p:nvPr/>
        </p:nvSpPr>
        <p:spPr>
          <a:xfrm>
            <a:off x="6126480" y="4343400"/>
            <a:ext cx="5120640" cy="320040"/>
          </a:xfrm>
          <a:prstGeom prst="rect">
            <a:avLst/>
          </a:prstGeom>
          <a:noFill/>
        </p:spPr>
        <p:txBody>
          <a:bodyPr wrap="none">
            <a:spAutoFit/>
          </a:bodyPr>
          <a:lstStyle/>
          <a:p>
            <a:pPr algn="ctr">
              <a:defRPr sz="1100" b="1">
                <a:solidFill>
                  <a:srgbClr val="3B82F6"/>
                </a:solidFill>
              </a:defRPr>
            </a:pPr>
            <a:r>
              <a:t>SARS System</a:t>
            </a:r>
          </a:p>
        </p:txBody>
      </p:sp>
      <p:sp>
        <p:nvSpPr>
          <p:cNvPr id="22" name="TextBox 21"/>
          <p:cNvSpPr txBox="1"/>
          <p:nvPr/>
        </p:nvSpPr>
        <p:spPr>
          <a:xfrm>
            <a:off x="822960" y="4709160"/>
            <a:ext cx="5120640" cy="274320"/>
          </a:xfrm>
          <a:prstGeom prst="rect">
            <a:avLst/>
          </a:prstGeom>
          <a:noFill/>
        </p:spPr>
        <p:txBody>
          <a:bodyPr wrap="none">
            <a:spAutoFit/>
          </a:bodyPr>
          <a:lstStyle/>
          <a:p>
            <a:pPr>
              <a:defRPr sz="900">
                <a:solidFill>
                  <a:srgbClr val="F1F5F9"/>
                </a:solidFill>
              </a:defRPr>
            </a:pPr>
            <a:r>
              <a:t>Manual extraction</a:t>
            </a:r>
          </a:p>
        </p:txBody>
      </p:sp>
      <p:sp>
        <p:nvSpPr>
          <p:cNvPr id="23" name="TextBox 22"/>
          <p:cNvSpPr txBox="1"/>
          <p:nvPr/>
        </p:nvSpPr>
        <p:spPr>
          <a:xfrm>
            <a:off x="6126480" y="4709160"/>
            <a:ext cx="5120640" cy="274320"/>
          </a:xfrm>
          <a:prstGeom prst="rect">
            <a:avLst/>
          </a:prstGeom>
          <a:noFill/>
        </p:spPr>
        <p:txBody>
          <a:bodyPr wrap="none">
            <a:spAutoFit/>
          </a:bodyPr>
          <a:lstStyle/>
          <a:p>
            <a:pPr>
              <a:defRPr sz="900">
                <a:solidFill>
                  <a:srgbClr val="F1F5F9"/>
                </a:solidFill>
              </a:defRPr>
            </a:pPr>
            <a:r>
              <a:t>AI Vision — automatic</a:t>
            </a:r>
          </a:p>
        </p:txBody>
      </p:sp>
      <p:sp>
        <p:nvSpPr>
          <p:cNvPr id="24" name="TextBox 23"/>
          <p:cNvSpPr txBox="1"/>
          <p:nvPr/>
        </p:nvSpPr>
        <p:spPr>
          <a:xfrm>
            <a:off x="822960" y="5029200"/>
            <a:ext cx="5120640" cy="274320"/>
          </a:xfrm>
          <a:prstGeom prst="rect">
            <a:avLst/>
          </a:prstGeom>
          <a:noFill/>
        </p:spPr>
        <p:txBody>
          <a:bodyPr wrap="none">
            <a:spAutoFit/>
          </a:bodyPr>
          <a:lstStyle/>
          <a:p>
            <a:pPr>
              <a:defRPr sz="900">
                <a:solidFill>
                  <a:srgbClr val="F1F5F9"/>
                </a:solidFill>
              </a:defRPr>
            </a:pPr>
            <a:r>
              <a:t>Late risk detection</a:t>
            </a:r>
          </a:p>
        </p:txBody>
      </p:sp>
      <p:sp>
        <p:nvSpPr>
          <p:cNvPr id="25" name="TextBox 24"/>
          <p:cNvSpPr txBox="1"/>
          <p:nvPr/>
        </p:nvSpPr>
        <p:spPr>
          <a:xfrm>
            <a:off x="6126480" y="5029200"/>
            <a:ext cx="5120640" cy="274320"/>
          </a:xfrm>
          <a:prstGeom prst="rect">
            <a:avLst/>
          </a:prstGeom>
          <a:noFill/>
        </p:spPr>
        <p:txBody>
          <a:bodyPr wrap="none">
            <a:spAutoFit/>
          </a:bodyPr>
          <a:lstStyle/>
          <a:p>
            <a:pPr>
              <a:defRPr sz="900">
                <a:solidFill>
                  <a:srgbClr val="F1F5F9"/>
                </a:solidFill>
              </a:defRPr>
            </a:pPr>
            <a:r>
              <a:t>Real-time after upload</a:t>
            </a:r>
          </a:p>
        </p:txBody>
      </p:sp>
      <p:sp>
        <p:nvSpPr>
          <p:cNvPr id="26" name="TextBox 25"/>
          <p:cNvSpPr txBox="1"/>
          <p:nvPr/>
        </p:nvSpPr>
        <p:spPr>
          <a:xfrm>
            <a:off x="822960" y="5349240"/>
            <a:ext cx="5120640" cy="274320"/>
          </a:xfrm>
          <a:prstGeom prst="rect">
            <a:avLst/>
          </a:prstGeom>
          <a:noFill/>
        </p:spPr>
        <p:txBody>
          <a:bodyPr wrap="none">
            <a:spAutoFit/>
          </a:bodyPr>
          <a:lstStyle/>
          <a:p>
            <a:pPr>
              <a:defRPr sz="900">
                <a:solidFill>
                  <a:srgbClr val="F1F5F9"/>
                </a:solidFill>
              </a:defRPr>
            </a:pPr>
            <a:r>
              <a:t>Opaque scores</a:t>
            </a:r>
          </a:p>
        </p:txBody>
      </p:sp>
      <p:sp>
        <p:nvSpPr>
          <p:cNvPr id="27" name="TextBox 26"/>
          <p:cNvSpPr txBox="1"/>
          <p:nvPr/>
        </p:nvSpPr>
        <p:spPr>
          <a:xfrm>
            <a:off x="6126480" y="5349240"/>
            <a:ext cx="5120640" cy="274320"/>
          </a:xfrm>
          <a:prstGeom prst="rect">
            <a:avLst/>
          </a:prstGeom>
          <a:noFill/>
        </p:spPr>
        <p:txBody>
          <a:bodyPr wrap="none">
            <a:spAutoFit/>
          </a:bodyPr>
          <a:lstStyle/>
          <a:p>
            <a:pPr>
              <a:defRPr sz="900">
                <a:solidFill>
                  <a:srgbClr val="F1F5F9"/>
                </a:solidFill>
              </a:defRPr>
            </a:pPr>
            <a:r>
              <a:t>Full factor explanation</a:t>
            </a:r>
          </a:p>
        </p:txBody>
      </p:sp>
      <p:sp>
        <p:nvSpPr>
          <p:cNvPr id="28" name="TextBox 27"/>
          <p:cNvSpPr txBox="1"/>
          <p:nvPr/>
        </p:nvSpPr>
        <p:spPr>
          <a:xfrm>
            <a:off x="822960" y="5669280"/>
            <a:ext cx="5120640" cy="274320"/>
          </a:xfrm>
          <a:prstGeom prst="rect">
            <a:avLst/>
          </a:prstGeom>
          <a:noFill/>
        </p:spPr>
        <p:txBody>
          <a:bodyPr wrap="none">
            <a:spAutoFit/>
          </a:bodyPr>
          <a:lstStyle/>
          <a:p>
            <a:pPr>
              <a:defRPr sz="900">
                <a:solidFill>
                  <a:srgbClr val="F1F5F9"/>
                </a:solidFill>
              </a:defRPr>
            </a:pPr>
            <a:r>
              <a:t>No advisory support</a:t>
            </a:r>
          </a:p>
        </p:txBody>
      </p:sp>
      <p:sp>
        <p:nvSpPr>
          <p:cNvPr id="29" name="TextBox 28"/>
          <p:cNvSpPr txBox="1"/>
          <p:nvPr/>
        </p:nvSpPr>
        <p:spPr>
          <a:xfrm>
            <a:off x="6126480" y="5669280"/>
            <a:ext cx="5120640" cy="274320"/>
          </a:xfrm>
          <a:prstGeom prst="rect">
            <a:avLst/>
          </a:prstGeom>
          <a:noFill/>
        </p:spPr>
        <p:txBody>
          <a:bodyPr wrap="none">
            <a:spAutoFit/>
          </a:bodyPr>
          <a:lstStyle/>
          <a:p>
            <a:pPr>
              <a:defRPr sz="900">
                <a:solidFill>
                  <a:srgbClr val="F1F5F9"/>
                </a:solidFill>
              </a:defRPr>
            </a:pPr>
            <a:r>
              <a:t>RAG-based personalized chat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3657600" cy="457200"/>
          </a:xfrm>
          <a:prstGeom prst="rect">
            <a:avLst/>
          </a:prstGeom>
          <a:noFill/>
        </p:spPr>
        <p:txBody>
          <a:bodyPr wrap="none">
            <a:spAutoFit/>
          </a:bodyPr>
          <a:lstStyle/>
          <a:p>
            <a:pPr>
              <a:defRPr sz="1600" b="1">
                <a:solidFill>
                  <a:srgbClr val="3B82F6"/>
                </a:solidFill>
              </a:defRPr>
            </a:pPr>
            <a:r>
              <a:t>05 — System Requirements</a:t>
            </a:r>
          </a:p>
        </p:txBody>
      </p:sp>
      <p:sp>
        <p:nvSpPr>
          <p:cNvPr id="3" name="TextBox 2"/>
          <p:cNvSpPr txBox="1"/>
          <p:nvPr/>
        </p:nvSpPr>
        <p:spPr>
          <a:xfrm>
            <a:off x="274320" y="6446520"/>
            <a:ext cx="2743200" cy="365760"/>
          </a:xfrm>
          <a:prstGeom prst="rect">
            <a:avLst/>
          </a:prstGeom>
          <a:noFill/>
        </p:spPr>
        <p:txBody>
          <a:bodyPr wrap="none">
            <a:spAutoFit/>
          </a:bodyPr>
          <a:lstStyle/>
          <a:p>
            <a:pPr>
              <a:defRPr sz="1000">
                <a:solidFill>
                  <a:srgbClr val="94A3B8"/>
                </a:solidFill>
              </a:defRPr>
            </a:pPr>
            <a:r>
              <a:t>SARS | SNIST 2024-25</a:t>
            </a:r>
          </a:p>
        </p:txBody>
      </p:sp>
      <p:sp>
        <p:nvSpPr>
          <p:cNvPr id="4" name="TextBox 3"/>
          <p:cNvSpPr txBox="1"/>
          <p:nvPr/>
        </p:nvSpPr>
        <p:spPr>
          <a:xfrm>
            <a:off x="10515600" y="6446520"/>
            <a:ext cx="1371600" cy="365760"/>
          </a:xfrm>
          <a:prstGeom prst="rect">
            <a:avLst/>
          </a:prstGeom>
          <a:noFill/>
        </p:spPr>
        <p:txBody>
          <a:bodyPr wrap="none">
            <a:spAutoFit/>
          </a:bodyPr>
          <a:lstStyle/>
          <a:p>
            <a:pPr algn="r">
              <a:defRPr sz="1000">
                <a:solidFill>
                  <a:srgbClr val="94A3B8"/>
                </a:solidFill>
              </a:defRPr>
            </a:pPr>
            <a:r>
              <a:t>Slide 7 / 19</a:t>
            </a:r>
          </a:p>
        </p:txBody>
      </p:sp>
      <p:sp>
        <p:nvSpPr>
          <p:cNvPr id="5" name="Rectangle 4"/>
          <p:cNvSpPr/>
          <p:nvPr/>
        </p:nvSpPr>
        <p:spPr>
          <a:xfrm>
            <a:off x="457200" y="1097280"/>
            <a:ext cx="5486400" cy="502920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34440"/>
            <a:ext cx="5120640" cy="365760"/>
          </a:xfrm>
          <a:prstGeom prst="rect">
            <a:avLst/>
          </a:prstGeom>
          <a:noFill/>
        </p:spPr>
        <p:txBody>
          <a:bodyPr wrap="none">
            <a:spAutoFit/>
          </a:bodyPr>
          <a:lstStyle/>
          <a:p>
            <a:pPr>
              <a:defRPr sz="1400" b="1">
                <a:solidFill>
                  <a:srgbClr val="3B82F6"/>
                </a:solidFill>
              </a:defRPr>
            </a:pPr>
            <a:r>
              <a:t>💻 Hardware Requirements</a:t>
            </a:r>
          </a:p>
        </p:txBody>
      </p:sp>
      <p:sp>
        <p:nvSpPr>
          <p:cNvPr id="7" name="TextBox 6"/>
          <p:cNvSpPr txBox="1"/>
          <p:nvPr/>
        </p:nvSpPr>
        <p:spPr>
          <a:xfrm>
            <a:off x="731520" y="1691640"/>
            <a:ext cx="4937760" cy="4114800"/>
          </a:xfrm>
          <a:prstGeom prst="rect">
            <a:avLst/>
          </a:prstGeom>
          <a:noFill/>
        </p:spPr>
        <p:txBody>
          <a:bodyPr wrap="square">
            <a:spAutoFit/>
          </a:bodyPr>
          <a:lstStyle/>
          <a:p>
            <a:pPr>
              <a:spcBef>
                <a:spcPts val="300"/>
              </a:spcBef>
              <a:defRPr sz="1000">
                <a:solidFill>
                  <a:srgbClr val="F1F5F9"/>
                </a:solidFill>
              </a:defRPr>
            </a:pPr>
            <a:r>
              <a:t>Processor: Intel Core i5 or higher</a:t>
            </a:r>
          </a:p>
          <a:p>
            <a:pPr>
              <a:spcBef>
                <a:spcPts val="300"/>
              </a:spcBef>
              <a:defRPr sz="1000">
                <a:solidFill>
                  <a:srgbClr val="F1F5F9"/>
                </a:solidFill>
              </a:defRPr>
            </a:pPr>
            <a:r>
              <a:t>RAM: Minimum 8 GB (16 GB recommended)</a:t>
            </a:r>
          </a:p>
          <a:p>
            <a:pPr>
              <a:spcBef>
                <a:spcPts val="300"/>
              </a:spcBef>
              <a:defRPr sz="1000">
                <a:solidFill>
                  <a:srgbClr val="F1F5F9"/>
                </a:solidFill>
              </a:defRPr>
            </a:pPr>
            <a:r>
              <a:t>Storage: 20 GB free disk space</a:t>
            </a:r>
          </a:p>
          <a:p>
            <a:pPr>
              <a:spcBef>
                <a:spcPts val="300"/>
              </a:spcBef>
              <a:defRPr sz="1000">
                <a:solidFill>
                  <a:srgbClr val="F1F5F9"/>
                </a:solidFill>
              </a:defRPr>
            </a:pPr>
            <a:r>
              <a:t>Network: Internet connection (Gemini API calls)</a:t>
            </a:r>
          </a:p>
          <a:p>
            <a:pPr>
              <a:spcBef>
                <a:spcPts val="300"/>
              </a:spcBef>
              <a:defRPr sz="1000">
                <a:solidFill>
                  <a:srgbClr val="F1F5F9"/>
                </a:solidFill>
              </a:defRPr>
            </a:pPr>
            <a:r>
              <a:t>Display: 1366 x 768 resolution minimum</a:t>
            </a:r>
          </a:p>
          <a:p>
            <a:pPr>
              <a:spcBef>
                <a:spcPts val="300"/>
              </a:spcBef>
              <a:defRPr sz="1000">
                <a:solidFill>
                  <a:srgbClr val="F1F5F9"/>
                </a:solidFill>
              </a:defRPr>
            </a:pPr>
            <a:r>
              <a:t>OS: Windows 10/11 or Ubuntu 20.04+</a:t>
            </a:r>
          </a:p>
        </p:txBody>
      </p:sp>
      <p:sp>
        <p:nvSpPr>
          <p:cNvPr id="8" name="Rectangle 7"/>
          <p:cNvSpPr/>
          <p:nvPr/>
        </p:nvSpPr>
        <p:spPr>
          <a:xfrm>
            <a:off x="6248095" y="1097280"/>
            <a:ext cx="5486400" cy="5029200"/>
          </a:xfrm>
          <a:prstGeom prst="rect">
            <a:avLst/>
          </a:prstGeom>
          <a:solidFill>
            <a:srgbClr val="1E293B"/>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2" y="1234440"/>
            <a:ext cx="5120640" cy="365760"/>
          </a:xfrm>
          <a:prstGeom prst="rect">
            <a:avLst/>
          </a:prstGeom>
          <a:noFill/>
        </p:spPr>
        <p:txBody>
          <a:bodyPr wrap="none">
            <a:spAutoFit/>
          </a:bodyPr>
          <a:lstStyle/>
          <a:p>
            <a:pPr>
              <a:defRPr sz="1400" b="1">
                <a:solidFill>
                  <a:srgbClr val="06B6D4"/>
                </a:solidFill>
              </a:defRPr>
            </a:pPr>
            <a:r>
              <a:t>⚙️  Software Requirements</a:t>
            </a:r>
          </a:p>
        </p:txBody>
      </p:sp>
      <p:sp>
        <p:nvSpPr>
          <p:cNvPr id="10" name="TextBox 9"/>
          <p:cNvSpPr txBox="1"/>
          <p:nvPr/>
        </p:nvSpPr>
        <p:spPr>
          <a:xfrm>
            <a:off x="6428232" y="1691640"/>
            <a:ext cx="4937760" cy="228600"/>
          </a:xfrm>
          <a:prstGeom prst="rect">
            <a:avLst/>
          </a:prstGeom>
          <a:noFill/>
        </p:spPr>
        <p:txBody>
          <a:bodyPr wrap="none">
            <a:spAutoFit/>
          </a:bodyPr>
          <a:lstStyle/>
          <a:p>
            <a:pPr>
              <a:defRPr sz="1100" b="1">
                <a:solidFill>
                  <a:srgbClr val="3B82F6"/>
                </a:solidFill>
              </a:defRPr>
            </a:pPr>
            <a:r>
              <a:t>Backend Stack:</a:t>
            </a:r>
          </a:p>
        </p:txBody>
      </p:sp>
      <p:sp>
        <p:nvSpPr>
          <p:cNvPr id="11" name="TextBox 10"/>
          <p:cNvSpPr txBox="1"/>
          <p:nvPr/>
        </p:nvSpPr>
        <p:spPr>
          <a:xfrm>
            <a:off x="6519672" y="1938528"/>
            <a:ext cx="4754880" cy="1188720"/>
          </a:xfrm>
          <a:prstGeom prst="rect">
            <a:avLst/>
          </a:prstGeom>
          <a:noFill/>
        </p:spPr>
        <p:txBody>
          <a:bodyPr wrap="square">
            <a:spAutoFit/>
          </a:bodyPr>
          <a:lstStyle/>
          <a:p>
            <a:pPr>
              <a:spcBef>
                <a:spcPts val="200"/>
              </a:spcBef>
              <a:defRPr sz="900">
                <a:solidFill>
                  <a:srgbClr val="94A3B8"/>
                </a:solidFill>
              </a:defRPr>
            </a:pPr>
            <a:r>
              <a:t>Python 3.11, FastAPI 0.111.0</a:t>
            </a:r>
          </a:p>
          <a:p>
            <a:pPr>
              <a:spcBef>
                <a:spcPts val="200"/>
              </a:spcBef>
              <a:defRPr sz="900">
                <a:solidFill>
                  <a:srgbClr val="94A3B8"/>
                </a:solidFill>
              </a:defRPr>
            </a:pPr>
            <a:r>
              <a:t>SQLAlchemy 2.0, SQLite</a:t>
            </a:r>
          </a:p>
          <a:p>
            <a:pPr>
              <a:spcBef>
                <a:spcPts val="200"/>
              </a:spcBef>
              <a:defRPr sz="900">
                <a:solidFill>
                  <a:srgbClr val="94A3B8"/>
                </a:solidFill>
              </a:defRPr>
            </a:pPr>
            <a:r>
              <a:t>PyMuPDF 1.24.1, Pillow 10.3.0</a:t>
            </a:r>
          </a:p>
          <a:p>
            <a:pPr>
              <a:spcBef>
                <a:spcPts val="200"/>
              </a:spcBef>
              <a:defRPr sz="900">
                <a:solidFill>
                  <a:srgbClr val="94A3B8"/>
                </a:solidFill>
              </a:defRPr>
            </a:pPr>
            <a:r>
              <a:t>ChromaDB 0.5.3, python-jose, bcrypt</a:t>
            </a:r>
          </a:p>
        </p:txBody>
      </p:sp>
      <p:sp>
        <p:nvSpPr>
          <p:cNvPr id="12" name="TextBox 11"/>
          <p:cNvSpPr txBox="1"/>
          <p:nvPr/>
        </p:nvSpPr>
        <p:spPr>
          <a:xfrm>
            <a:off x="6428232" y="3246120"/>
            <a:ext cx="4937760" cy="228600"/>
          </a:xfrm>
          <a:prstGeom prst="rect">
            <a:avLst/>
          </a:prstGeom>
          <a:noFill/>
        </p:spPr>
        <p:txBody>
          <a:bodyPr wrap="none">
            <a:spAutoFit/>
          </a:bodyPr>
          <a:lstStyle/>
          <a:p>
            <a:pPr>
              <a:defRPr sz="1100" b="1">
                <a:solidFill>
                  <a:srgbClr val="06B6D4"/>
                </a:solidFill>
              </a:defRPr>
            </a:pPr>
            <a:r>
              <a:t>Frontend Stack:</a:t>
            </a:r>
          </a:p>
        </p:txBody>
      </p:sp>
      <p:sp>
        <p:nvSpPr>
          <p:cNvPr id="13" name="TextBox 12"/>
          <p:cNvSpPr txBox="1"/>
          <p:nvPr/>
        </p:nvSpPr>
        <p:spPr>
          <a:xfrm>
            <a:off x="6519672" y="3493008"/>
            <a:ext cx="4754880" cy="731520"/>
          </a:xfrm>
          <a:prstGeom prst="rect">
            <a:avLst/>
          </a:prstGeom>
          <a:noFill/>
        </p:spPr>
        <p:txBody>
          <a:bodyPr wrap="square">
            <a:spAutoFit/>
          </a:bodyPr>
          <a:lstStyle/>
          <a:p>
            <a:pPr>
              <a:spcBef>
                <a:spcPts val="200"/>
              </a:spcBef>
              <a:defRPr sz="900">
                <a:solidFill>
                  <a:srgbClr val="94A3B8"/>
                </a:solidFill>
              </a:defRPr>
            </a:pPr>
            <a:r>
              <a:t>React 18.2.0, React Router DOM 6.23.0</a:t>
            </a:r>
          </a:p>
          <a:p>
            <a:pPr>
              <a:spcBef>
                <a:spcPts val="200"/>
              </a:spcBef>
              <a:defRPr sz="900">
                <a:solidFill>
                  <a:srgbClr val="94A3B8"/>
                </a:solidFill>
              </a:defRPr>
            </a:pPr>
            <a:r>
              <a:t>Axios 1.7.0, react-markdown</a:t>
            </a:r>
          </a:p>
        </p:txBody>
      </p:sp>
      <p:sp>
        <p:nvSpPr>
          <p:cNvPr id="14" name="TextBox 13"/>
          <p:cNvSpPr txBox="1"/>
          <p:nvPr/>
        </p:nvSpPr>
        <p:spPr>
          <a:xfrm>
            <a:off x="6428232" y="4343400"/>
            <a:ext cx="4937760" cy="228600"/>
          </a:xfrm>
          <a:prstGeom prst="rect">
            <a:avLst/>
          </a:prstGeom>
          <a:noFill/>
        </p:spPr>
        <p:txBody>
          <a:bodyPr wrap="none">
            <a:spAutoFit/>
          </a:bodyPr>
          <a:lstStyle/>
          <a:p>
            <a:pPr>
              <a:defRPr sz="1100" b="1">
                <a:solidFill>
                  <a:srgbClr val="22C55E"/>
                </a:solidFill>
              </a:defRPr>
            </a:pPr>
            <a:r>
              <a:t>AI Services:</a:t>
            </a:r>
          </a:p>
        </p:txBody>
      </p:sp>
      <p:sp>
        <p:nvSpPr>
          <p:cNvPr id="15" name="TextBox 14"/>
          <p:cNvSpPr txBox="1"/>
          <p:nvPr/>
        </p:nvSpPr>
        <p:spPr>
          <a:xfrm>
            <a:off x="6519672" y="4590288"/>
            <a:ext cx="4754880" cy="914400"/>
          </a:xfrm>
          <a:prstGeom prst="rect">
            <a:avLst/>
          </a:prstGeom>
          <a:noFill/>
        </p:spPr>
        <p:txBody>
          <a:bodyPr wrap="square">
            <a:spAutoFit/>
          </a:bodyPr>
          <a:lstStyle/>
          <a:p>
            <a:pPr>
              <a:spcBef>
                <a:spcPts val="200"/>
              </a:spcBef>
              <a:defRPr sz="900">
                <a:solidFill>
                  <a:srgbClr val="94A3B8"/>
                </a:solidFill>
              </a:defRPr>
            </a:pPr>
            <a:r>
              <a:t>Google Gemini 2.5 Flash (Vision + Text)</a:t>
            </a:r>
          </a:p>
          <a:p>
            <a:pPr>
              <a:spcBef>
                <a:spcPts val="200"/>
              </a:spcBef>
              <a:defRPr sz="900">
                <a:solidFill>
                  <a:srgbClr val="94A3B8"/>
                </a:solidFill>
              </a:defRPr>
            </a:pPr>
            <a:r>
              <a:t>Text-embedding-004 (Embeddings)</a:t>
            </a:r>
          </a:p>
          <a:p>
            <a:pPr>
              <a:spcBef>
                <a:spcPts val="200"/>
              </a:spcBef>
              <a:defRPr sz="900">
                <a:solidFill>
                  <a:srgbClr val="94A3B8"/>
                </a:solidFill>
              </a:defRPr>
            </a:pPr>
            <a:r>
              <a:t>API Key: Google AI Studio (free tier)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3657600" cy="457200"/>
          </a:xfrm>
          <a:prstGeom prst="rect">
            <a:avLst/>
          </a:prstGeom>
          <a:noFill/>
        </p:spPr>
        <p:txBody>
          <a:bodyPr wrap="none">
            <a:spAutoFit/>
          </a:bodyPr>
          <a:lstStyle/>
          <a:p>
            <a:pPr>
              <a:defRPr sz="1600" b="1">
                <a:solidFill>
                  <a:srgbClr val="3B82F6"/>
                </a:solidFill>
              </a:defRPr>
            </a:pPr>
            <a:r>
              <a:t>06 — System Architecture</a:t>
            </a:r>
          </a:p>
        </p:txBody>
      </p:sp>
      <p:sp>
        <p:nvSpPr>
          <p:cNvPr id="3" name="TextBox 2"/>
          <p:cNvSpPr txBox="1"/>
          <p:nvPr/>
        </p:nvSpPr>
        <p:spPr>
          <a:xfrm>
            <a:off x="274320" y="6446520"/>
            <a:ext cx="2743200" cy="365760"/>
          </a:xfrm>
          <a:prstGeom prst="rect">
            <a:avLst/>
          </a:prstGeom>
          <a:noFill/>
        </p:spPr>
        <p:txBody>
          <a:bodyPr wrap="none">
            <a:spAutoFit/>
          </a:bodyPr>
          <a:lstStyle/>
          <a:p>
            <a:pPr>
              <a:defRPr sz="1000">
                <a:solidFill>
                  <a:srgbClr val="94A3B8"/>
                </a:solidFill>
              </a:defRPr>
            </a:pPr>
            <a:r>
              <a:t>SARS | SNIST 2024-25</a:t>
            </a:r>
          </a:p>
        </p:txBody>
      </p:sp>
      <p:sp>
        <p:nvSpPr>
          <p:cNvPr id="4" name="TextBox 3"/>
          <p:cNvSpPr txBox="1"/>
          <p:nvPr/>
        </p:nvSpPr>
        <p:spPr>
          <a:xfrm>
            <a:off x="10515600" y="6446520"/>
            <a:ext cx="1371600" cy="365760"/>
          </a:xfrm>
          <a:prstGeom prst="rect">
            <a:avLst/>
          </a:prstGeom>
          <a:noFill/>
        </p:spPr>
        <p:txBody>
          <a:bodyPr wrap="none">
            <a:spAutoFit/>
          </a:bodyPr>
          <a:lstStyle/>
          <a:p>
            <a:pPr algn="r">
              <a:defRPr sz="1000">
                <a:solidFill>
                  <a:srgbClr val="94A3B8"/>
                </a:solidFill>
              </a:defRPr>
            </a:pPr>
            <a:r>
              <a:t>Slide 8 / 19</a:t>
            </a:r>
          </a:p>
        </p:txBody>
      </p:sp>
      <p:sp>
        <p:nvSpPr>
          <p:cNvPr id="5" name="Rectangle 4"/>
          <p:cNvSpPr/>
          <p:nvPr/>
        </p:nvSpPr>
        <p:spPr>
          <a:xfrm>
            <a:off x="1371600" y="1371600"/>
            <a:ext cx="9448495" cy="4114800"/>
          </a:xfrm>
          <a:prstGeom prst="rect">
            <a:avLst/>
          </a:prstGeom>
          <a:solidFill>
            <a:srgbClr val="1E293B"/>
          </a:solidFill>
          <a:ln w="25400">
            <a:solidFill>
              <a:srgbClr val="3B82F6"/>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54480" y="3200400"/>
            <a:ext cx="9144000" cy="914400"/>
          </a:xfrm>
          <a:prstGeom prst="rect">
            <a:avLst/>
          </a:prstGeom>
          <a:noFill/>
        </p:spPr>
        <p:txBody>
          <a:bodyPr wrap="none">
            <a:spAutoFit/>
          </a:bodyPr>
          <a:lstStyle/>
          <a:p>
            <a:pPr algn="ctr">
              <a:defRPr sz="2400">
                <a:solidFill>
                  <a:srgbClr val="3B82F6"/>
                </a:solidFill>
              </a:defRPr>
            </a:pPr>
            <a:r>
              <a:t>System Architecture Diagram</a:t>
            </a:r>
          </a:p>
          <a:p>
            <a:r>
              <a:t>(Insert diagram image here)</a:t>
            </a:r>
          </a:p>
        </p:txBody>
      </p:sp>
      <p:sp>
        <p:nvSpPr>
          <p:cNvPr id="7" name="TextBox 6"/>
          <p:cNvSpPr txBox="1"/>
          <p:nvPr/>
        </p:nvSpPr>
        <p:spPr>
          <a:xfrm>
            <a:off x="914400" y="6217920"/>
            <a:ext cx="10362895" cy="365760"/>
          </a:xfrm>
          <a:prstGeom prst="rect">
            <a:avLst/>
          </a:prstGeom>
          <a:noFill/>
        </p:spPr>
        <p:txBody>
          <a:bodyPr wrap="none">
            <a:spAutoFit/>
          </a:bodyPr>
          <a:lstStyle/>
          <a:p>
            <a:pPr algn="ctr">
              <a:defRPr sz="1000">
                <a:solidFill>
                  <a:srgbClr val="94A3B8"/>
                </a:solidFill>
              </a:defRPr>
            </a:pPr>
            <a:r>
              <a:t>Five-layer architecture: Users → React Frontend → FastAPI Backend → SQLite Database → Gemini AI Services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3657600" cy="457200"/>
          </a:xfrm>
          <a:prstGeom prst="rect">
            <a:avLst/>
          </a:prstGeom>
          <a:noFill/>
        </p:spPr>
        <p:txBody>
          <a:bodyPr wrap="none">
            <a:spAutoFit/>
          </a:bodyPr>
          <a:lstStyle/>
          <a:p>
            <a:pPr>
              <a:defRPr sz="1600" b="1">
                <a:solidFill>
                  <a:srgbClr val="3B82F6"/>
                </a:solidFill>
              </a:defRPr>
            </a:pPr>
            <a:r>
              <a:t>07 — RAG Pipeline</a:t>
            </a:r>
          </a:p>
        </p:txBody>
      </p:sp>
      <p:sp>
        <p:nvSpPr>
          <p:cNvPr id="3" name="TextBox 2"/>
          <p:cNvSpPr txBox="1"/>
          <p:nvPr/>
        </p:nvSpPr>
        <p:spPr>
          <a:xfrm>
            <a:off x="274320" y="6446520"/>
            <a:ext cx="2743200" cy="365760"/>
          </a:xfrm>
          <a:prstGeom prst="rect">
            <a:avLst/>
          </a:prstGeom>
          <a:noFill/>
        </p:spPr>
        <p:txBody>
          <a:bodyPr wrap="none">
            <a:spAutoFit/>
          </a:bodyPr>
          <a:lstStyle/>
          <a:p>
            <a:pPr>
              <a:defRPr sz="1000">
                <a:solidFill>
                  <a:srgbClr val="94A3B8"/>
                </a:solidFill>
              </a:defRPr>
            </a:pPr>
            <a:r>
              <a:t>SARS | SNIST 2024-25</a:t>
            </a:r>
          </a:p>
        </p:txBody>
      </p:sp>
      <p:sp>
        <p:nvSpPr>
          <p:cNvPr id="4" name="TextBox 3"/>
          <p:cNvSpPr txBox="1"/>
          <p:nvPr/>
        </p:nvSpPr>
        <p:spPr>
          <a:xfrm>
            <a:off x="10515600" y="6446520"/>
            <a:ext cx="1371600" cy="365760"/>
          </a:xfrm>
          <a:prstGeom prst="rect">
            <a:avLst/>
          </a:prstGeom>
          <a:noFill/>
        </p:spPr>
        <p:txBody>
          <a:bodyPr wrap="none">
            <a:spAutoFit/>
          </a:bodyPr>
          <a:lstStyle/>
          <a:p>
            <a:pPr algn="r">
              <a:defRPr sz="1000">
                <a:solidFill>
                  <a:srgbClr val="94A3B8"/>
                </a:solidFill>
              </a:defRPr>
            </a:pPr>
            <a:r>
              <a:t>Slide 9 / 19</a:t>
            </a:r>
          </a:p>
        </p:txBody>
      </p:sp>
      <p:sp>
        <p:nvSpPr>
          <p:cNvPr id="5" name="Rectangle 4"/>
          <p:cNvSpPr/>
          <p:nvPr/>
        </p:nvSpPr>
        <p:spPr>
          <a:xfrm>
            <a:off x="1371600" y="1371600"/>
            <a:ext cx="9448495" cy="4114800"/>
          </a:xfrm>
          <a:prstGeom prst="rect">
            <a:avLst/>
          </a:prstGeom>
          <a:solidFill>
            <a:srgbClr val="1E293B"/>
          </a:solidFill>
          <a:ln w="25400">
            <a:solidFill>
              <a:srgbClr val="06B6D4"/>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54480" y="3200400"/>
            <a:ext cx="9144000" cy="914400"/>
          </a:xfrm>
          <a:prstGeom prst="rect">
            <a:avLst/>
          </a:prstGeom>
          <a:noFill/>
        </p:spPr>
        <p:txBody>
          <a:bodyPr wrap="none">
            <a:spAutoFit/>
          </a:bodyPr>
          <a:lstStyle/>
          <a:p>
            <a:pPr algn="ctr">
              <a:defRPr sz="2400">
                <a:solidFill>
                  <a:srgbClr val="06B6D4"/>
                </a:solidFill>
              </a:defRPr>
            </a:pPr>
            <a:r>
              <a:t>RAG Pipeline Diagram</a:t>
            </a:r>
          </a:p>
          <a:p>
            <a:r>
              <a:t>(Insert diagram image here)</a:t>
            </a:r>
          </a:p>
        </p:txBody>
      </p:sp>
      <p:sp>
        <p:nvSpPr>
          <p:cNvPr id="7" name="TextBox 6"/>
          <p:cNvSpPr txBox="1"/>
          <p:nvPr/>
        </p:nvSpPr>
        <p:spPr>
          <a:xfrm>
            <a:off x="914400" y="6217920"/>
            <a:ext cx="10362895" cy="365760"/>
          </a:xfrm>
          <a:prstGeom prst="rect">
            <a:avLst/>
          </a:prstGeom>
          <a:noFill/>
        </p:spPr>
        <p:txBody>
          <a:bodyPr wrap="none">
            <a:spAutoFit/>
          </a:bodyPr>
          <a:lstStyle/>
          <a:p>
            <a:pPr algn="ctr">
              <a:defRPr sz="1000">
                <a:solidFill>
                  <a:srgbClr val="94A3B8"/>
                </a:solidFill>
              </a:defRPr>
            </a:pPr>
            <a:r>
              <a:t>Student data chunked into 7 types → Gemini embeddings → ChromaDB → Semantic retrieval → Grounded response + Source citations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3657600" cy="457200"/>
          </a:xfrm>
          <a:prstGeom prst="rect">
            <a:avLst/>
          </a:prstGeom>
          <a:noFill/>
        </p:spPr>
        <p:txBody>
          <a:bodyPr wrap="none">
            <a:spAutoFit/>
          </a:bodyPr>
          <a:lstStyle/>
          <a:p>
            <a:pPr>
              <a:defRPr sz="1600" b="1">
                <a:solidFill>
                  <a:srgbClr val="3B82F6"/>
                </a:solidFill>
              </a:defRPr>
            </a:pPr>
            <a:r>
              <a:t>08 — UML Diagrams</a:t>
            </a:r>
          </a:p>
        </p:txBody>
      </p:sp>
      <p:sp>
        <p:nvSpPr>
          <p:cNvPr id="3" name="TextBox 2"/>
          <p:cNvSpPr txBox="1"/>
          <p:nvPr/>
        </p:nvSpPr>
        <p:spPr>
          <a:xfrm>
            <a:off x="274320" y="6446520"/>
            <a:ext cx="2743200" cy="365760"/>
          </a:xfrm>
          <a:prstGeom prst="rect">
            <a:avLst/>
          </a:prstGeom>
          <a:noFill/>
        </p:spPr>
        <p:txBody>
          <a:bodyPr wrap="none">
            <a:spAutoFit/>
          </a:bodyPr>
          <a:lstStyle/>
          <a:p>
            <a:pPr>
              <a:defRPr sz="1000">
                <a:solidFill>
                  <a:srgbClr val="94A3B8"/>
                </a:solidFill>
              </a:defRPr>
            </a:pPr>
            <a:r>
              <a:t>SARS | SNIST 2024-25</a:t>
            </a:r>
          </a:p>
        </p:txBody>
      </p:sp>
      <p:sp>
        <p:nvSpPr>
          <p:cNvPr id="4" name="TextBox 3"/>
          <p:cNvSpPr txBox="1"/>
          <p:nvPr/>
        </p:nvSpPr>
        <p:spPr>
          <a:xfrm>
            <a:off x="10515600" y="6446520"/>
            <a:ext cx="1371600" cy="365760"/>
          </a:xfrm>
          <a:prstGeom prst="rect">
            <a:avLst/>
          </a:prstGeom>
          <a:noFill/>
        </p:spPr>
        <p:txBody>
          <a:bodyPr wrap="none">
            <a:spAutoFit/>
          </a:bodyPr>
          <a:lstStyle/>
          <a:p>
            <a:pPr algn="r">
              <a:defRPr sz="1000">
                <a:solidFill>
                  <a:srgbClr val="94A3B8"/>
                </a:solidFill>
              </a:defRPr>
            </a:pPr>
            <a:r>
              <a:t>Slide 10 / 19</a:t>
            </a:r>
          </a:p>
        </p:txBody>
      </p:sp>
      <p:sp>
        <p:nvSpPr>
          <p:cNvPr id="5" name="Rectangle 4"/>
          <p:cNvSpPr/>
          <p:nvPr/>
        </p:nvSpPr>
        <p:spPr>
          <a:xfrm>
            <a:off x="457200" y="1097280"/>
            <a:ext cx="5303520" cy="228600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34439"/>
            <a:ext cx="4937760" cy="320040"/>
          </a:xfrm>
          <a:prstGeom prst="rect">
            <a:avLst/>
          </a:prstGeom>
          <a:noFill/>
        </p:spPr>
        <p:txBody>
          <a:bodyPr wrap="none">
            <a:spAutoFit/>
          </a:bodyPr>
          <a:lstStyle/>
          <a:p>
            <a:pPr>
              <a:defRPr sz="1200" b="1">
                <a:solidFill>
                  <a:srgbClr val="06B6D4"/>
                </a:solidFill>
              </a:defRPr>
            </a:pPr>
            <a:r>
              <a:t>Use Case Diagram</a:t>
            </a:r>
          </a:p>
        </p:txBody>
      </p:sp>
      <p:sp>
        <p:nvSpPr>
          <p:cNvPr id="7" name="TextBox 6"/>
          <p:cNvSpPr txBox="1"/>
          <p:nvPr/>
        </p:nvSpPr>
        <p:spPr>
          <a:xfrm>
            <a:off x="640080" y="1600200"/>
            <a:ext cx="4937760" cy="1645920"/>
          </a:xfrm>
          <a:prstGeom prst="rect">
            <a:avLst/>
          </a:prstGeom>
          <a:noFill/>
        </p:spPr>
        <p:txBody>
          <a:bodyPr wrap="square" anchor="ctr">
            <a:spAutoFit/>
          </a:bodyPr>
          <a:lstStyle/>
          <a:p>
            <a:pPr algn="ctr">
              <a:defRPr sz="1000">
                <a:solidFill>
                  <a:srgbClr val="F1F5F9"/>
                </a:solidFill>
              </a:defRPr>
            </a:pPr>
            <a:r>
              <a:t>Students and Teachers</a:t>
            </a:r>
          </a:p>
          <a:p>
            <a:r>
              <a:t>login, upload marks,</a:t>
            </a:r>
          </a:p>
          <a:p>
            <a:r>
              <a:t>view risks, interactions</a:t>
            </a:r>
          </a:p>
        </p:txBody>
      </p:sp>
      <p:sp>
        <p:nvSpPr>
          <p:cNvPr id="8" name="Rectangle 7"/>
          <p:cNvSpPr/>
          <p:nvPr/>
        </p:nvSpPr>
        <p:spPr>
          <a:xfrm>
            <a:off x="6186830" y="1097280"/>
            <a:ext cx="5303520" cy="228600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9710" y="1234439"/>
            <a:ext cx="4937760" cy="320040"/>
          </a:xfrm>
          <a:prstGeom prst="rect">
            <a:avLst/>
          </a:prstGeom>
          <a:noFill/>
        </p:spPr>
        <p:txBody>
          <a:bodyPr wrap="none">
            <a:spAutoFit/>
          </a:bodyPr>
          <a:lstStyle/>
          <a:p>
            <a:pPr>
              <a:defRPr sz="1200" b="1">
                <a:solidFill>
                  <a:srgbClr val="06B6D4"/>
                </a:solidFill>
              </a:defRPr>
            </a:pPr>
            <a:r>
              <a:t>Activity Diagram</a:t>
            </a:r>
          </a:p>
        </p:txBody>
      </p:sp>
      <p:sp>
        <p:nvSpPr>
          <p:cNvPr id="10" name="TextBox 9"/>
          <p:cNvSpPr txBox="1"/>
          <p:nvPr/>
        </p:nvSpPr>
        <p:spPr>
          <a:xfrm>
            <a:off x="6369710" y="1600200"/>
            <a:ext cx="4937760" cy="1645920"/>
          </a:xfrm>
          <a:prstGeom prst="rect">
            <a:avLst/>
          </a:prstGeom>
          <a:noFill/>
        </p:spPr>
        <p:txBody>
          <a:bodyPr wrap="square" anchor="ctr">
            <a:spAutoFit/>
          </a:bodyPr>
          <a:lstStyle/>
          <a:p>
            <a:pPr algn="ctr">
              <a:defRPr sz="1000">
                <a:solidFill>
                  <a:srgbClr val="F1F5F9"/>
                </a:solidFill>
              </a:defRPr>
            </a:pPr>
            <a:r>
              <a:t>Upload → Extract</a:t>
            </a:r>
          </a:p>
          <a:p>
            <a:r>
              <a:t>→ Review → Save</a:t>
            </a:r>
          </a:p>
          <a:p>
            <a:r>
              <a:t>→ Compute Risk</a:t>
            </a:r>
          </a:p>
        </p:txBody>
      </p:sp>
      <p:sp>
        <p:nvSpPr>
          <p:cNvPr id="11" name="Rectangle 10"/>
          <p:cNvSpPr/>
          <p:nvPr/>
        </p:nvSpPr>
        <p:spPr>
          <a:xfrm>
            <a:off x="457200" y="3657600"/>
            <a:ext cx="5303520" cy="228600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794760"/>
            <a:ext cx="4937760" cy="320040"/>
          </a:xfrm>
          <a:prstGeom prst="rect">
            <a:avLst/>
          </a:prstGeom>
          <a:noFill/>
        </p:spPr>
        <p:txBody>
          <a:bodyPr wrap="none">
            <a:spAutoFit/>
          </a:bodyPr>
          <a:lstStyle/>
          <a:p>
            <a:pPr>
              <a:defRPr sz="1200" b="1">
                <a:solidFill>
                  <a:srgbClr val="06B6D4"/>
                </a:solidFill>
              </a:defRPr>
            </a:pPr>
            <a:r>
              <a:t>Sequence Diagram</a:t>
            </a:r>
          </a:p>
        </p:txBody>
      </p:sp>
      <p:sp>
        <p:nvSpPr>
          <p:cNvPr id="13" name="TextBox 12"/>
          <p:cNvSpPr txBox="1"/>
          <p:nvPr/>
        </p:nvSpPr>
        <p:spPr>
          <a:xfrm>
            <a:off x="640080" y="4160520"/>
            <a:ext cx="4937760" cy="1645920"/>
          </a:xfrm>
          <a:prstGeom prst="rect">
            <a:avLst/>
          </a:prstGeom>
          <a:noFill/>
        </p:spPr>
        <p:txBody>
          <a:bodyPr wrap="square" anchor="ctr">
            <a:spAutoFit/>
          </a:bodyPr>
          <a:lstStyle/>
          <a:p>
            <a:pPr algn="ctr">
              <a:defRPr sz="1000">
                <a:solidFill>
                  <a:srgbClr val="F1F5F9"/>
                </a:solidFill>
              </a:defRPr>
            </a:pPr>
            <a:r>
              <a:t>Frontend → Backend</a:t>
            </a:r>
          </a:p>
          <a:p>
            <a:r>
              <a:t>→ Database → Risk Engine</a:t>
            </a:r>
          </a:p>
          <a:p>
            <a:r>
              <a:t>→ Response Chain</a:t>
            </a:r>
          </a:p>
        </p:txBody>
      </p:sp>
      <p:sp>
        <p:nvSpPr>
          <p:cNvPr id="14" name="Rectangle 13"/>
          <p:cNvSpPr/>
          <p:nvPr/>
        </p:nvSpPr>
        <p:spPr>
          <a:xfrm>
            <a:off x="6186830" y="3657600"/>
            <a:ext cx="5303520" cy="228600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9710" y="3794760"/>
            <a:ext cx="4937760" cy="320040"/>
          </a:xfrm>
          <a:prstGeom prst="rect">
            <a:avLst/>
          </a:prstGeom>
          <a:noFill/>
        </p:spPr>
        <p:txBody>
          <a:bodyPr wrap="none">
            <a:spAutoFit/>
          </a:bodyPr>
          <a:lstStyle/>
          <a:p>
            <a:pPr>
              <a:defRPr sz="1200" b="1">
                <a:solidFill>
                  <a:srgbClr val="06B6D4"/>
                </a:solidFill>
              </a:defRPr>
            </a:pPr>
            <a:r>
              <a:t>ER Diagram Overview</a:t>
            </a:r>
          </a:p>
        </p:txBody>
      </p:sp>
      <p:sp>
        <p:nvSpPr>
          <p:cNvPr id="16" name="TextBox 15"/>
          <p:cNvSpPr txBox="1"/>
          <p:nvPr/>
        </p:nvSpPr>
        <p:spPr>
          <a:xfrm>
            <a:off x="6369710" y="4160520"/>
            <a:ext cx="4937760" cy="1645920"/>
          </a:xfrm>
          <a:prstGeom prst="rect">
            <a:avLst/>
          </a:prstGeom>
          <a:noFill/>
        </p:spPr>
        <p:txBody>
          <a:bodyPr wrap="square" anchor="ctr">
            <a:spAutoFit/>
          </a:bodyPr>
          <a:lstStyle/>
          <a:p>
            <a:pPr algn="ctr">
              <a:defRPr sz="1000">
                <a:solidFill>
                  <a:srgbClr val="F1F5F9"/>
                </a:solidFill>
              </a:defRPr>
            </a:pPr>
            <a:r>
              <a:t>Users, Students,</a:t>
            </a:r>
          </a:p>
          <a:p>
            <a:r>
              <a:t>Semester Records,</a:t>
            </a:r>
          </a:p>
          <a:p>
            <a:r>
              <a:t>Risk Scores, Chats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3657600" cy="457200"/>
          </a:xfrm>
          <a:prstGeom prst="rect">
            <a:avLst/>
          </a:prstGeom>
          <a:noFill/>
        </p:spPr>
        <p:txBody>
          <a:bodyPr wrap="none">
            <a:spAutoFit/>
          </a:bodyPr>
          <a:lstStyle/>
          <a:p>
            <a:pPr>
              <a:defRPr sz="1600" b="1">
                <a:solidFill>
                  <a:srgbClr val="3B82F6"/>
                </a:solidFill>
              </a:defRPr>
            </a:pPr>
            <a:r>
              <a:t>09 — System Modules</a:t>
            </a:r>
          </a:p>
        </p:txBody>
      </p:sp>
      <p:sp>
        <p:nvSpPr>
          <p:cNvPr id="3" name="TextBox 2"/>
          <p:cNvSpPr txBox="1"/>
          <p:nvPr/>
        </p:nvSpPr>
        <p:spPr>
          <a:xfrm>
            <a:off x="274320" y="6446520"/>
            <a:ext cx="2743200" cy="365760"/>
          </a:xfrm>
          <a:prstGeom prst="rect">
            <a:avLst/>
          </a:prstGeom>
          <a:noFill/>
        </p:spPr>
        <p:txBody>
          <a:bodyPr wrap="none">
            <a:spAutoFit/>
          </a:bodyPr>
          <a:lstStyle/>
          <a:p>
            <a:pPr>
              <a:defRPr sz="1000">
                <a:solidFill>
                  <a:srgbClr val="94A3B8"/>
                </a:solidFill>
              </a:defRPr>
            </a:pPr>
            <a:r>
              <a:t>SARS | SNIST 2024-25</a:t>
            </a:r>
          </a:p>
        </p:txBody>
      </p:sp>
      <p:sp>
        <p:nvSpPr>
          <p:cNvPr id="4" name="TextBox 3"/>
          <p:cNvSpPr txBox="1"/>
          <p:nvPr/>
        </p:nvSpPr>
        <p:spPr>
          <a:xfrm>
            <a:off x="10515600" y="6446520"/>
            <a:ext cx="1371600" cy="365760"/>
          </a:xfrm>
          <a:prstGeom prst="rect">
            <a:avLst/>
          </a:prstGeom>
          <a:noFill/>
        </p:spPr>
        <p:txBody>
          <a:bodyPr wrap="none">
            <a:spAutoFit/>
          </a:bodyPr>
          <a:lstStyle/>
          <a:p>
            <a:pPr algn="r">
              <a:defRPr sz="1000">
                <a:solidFill>
                  <a:srgbClr val="94A3B8"/>
                </a:solidFill>
              </a:defRPr>
            </a:pPr>
            <a:r>
              <a:t>Slide 11 / 19</a:t>
            </a:r>
          </a:p>
        </p:txBody>
      </p:sp>
      <p:sp>
        <p:nvSpPr>
          <p:cNvPr id="5" name="Rectangle 4"/>
          <p:cNvSpPr/>
          <p:nvPr/>
        </p:nvSpPr>
        <p:spPr>
          <a:xfrm>
            <a:off x="457200" y="1097280"/>
            <a:ext cx="3200400" cy="219456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88720"/>
            <a:ext cx="2926080" cy="320040"/>
          </a:xfrm>
          <a:prstGeom prst="rect">
            <a:avLst/>
          </a:prstGeom>
          <a:noFill/>
        </p:spPr>
        <p:txBody>
          <a:bodyPr wrap="square">
            <a:spAutoFit/>
          </a:bodyPr>
          <a:lstStyle/>
          <a:p>
            <a:pPr algn="ctr">
              <a:defRPr sz="1100" b="1">
                <a:solidFill>
                  <a:srgbClr val="3B82F6"/>
                </a:solidFill>
              </a:defRPr>
            </a:pPr>
            <a:r>
              <a:t>🔐 Authentication</a:t>
            </a:r>
          </a:p>
        </p:txBody>
      </p:sp>
      <p:sp>
        <p:nvSpPr>
          <p:cNvPr id="7" name="TextBox 6"/>
          <p:cNvSpPr txBox="1"/>
          <p:nvPr/>
        </p:nvSpPr>
        <p:spPr>
          <a:xfrm>
            <a:off x="594360" y="1554480"/>
            <a:ext cx="2926080" cy="1600200"/>
          </a:xfrm>
          <a:prstGeom prst="rect">
            <a:avLst/>
          </a:prstGeom>
          <a:noFill/>
        </p:spPr>
        <p:txBody>
          <a:bodyPr wrap="square">
            <a:spAutoFit/>
          </a:bodyPr>
          <a:lstStyle/>
          <a:p>
            <a:pPr>
              <a:spcBef>
                <a:spcPts val="100"/>
              </a:spcBef>
              <a:defRPr sz="850">
                <a:solidFill>
                  <a:srgbClr val="94A3B8"/>
                </a:solidFill>
              </a:defRPr>
            </a:pPr>
            <a:r>
              <a:t>• JWT token login</a:t>
            </a:r>
          </a:p>
          <a:p>
            <a:pPr>
              <a:spcBef>
                <a:spcPts val="100"/>
              </a:spcBef>
              <a:defRPr sz="850">
                <a:solidFill>
                  <a:srgbClr val="94A3B8"/>
                </a:solidFill>
              </a:defRPr>
            </a:pPr>
            <a:r>
              <a:t>• bcrypt hashing</a:t>
            </a:r>
          </a:p>
          <a:p>
            <a:pPr>
              <a:spcBef>
                <a:spcPts val="100"/>
              </a:spcBef>
              <a:defRPr sz="850">
                <a:solidFill>
                  <a:srgbClr val="94A3B8"/>
                </a:solidFill>
              </a:defRPr>
            </a:pPr>
            <a:r>
              <a:t>• Role separation</a:t>
            </a:r>
          </a:p>
          <a:p>
            <a:pPr>
              <a:spcBef>
                <a:spcPts val="100"/>
              </a:spcBef>
              <a:defRPr sz="850">
                <a:solidFill>
                  <a:srgbClr val="94A3B8"/>
                </a:solidFill>
              </a:defRPr>
            </a:pPr>
            <a:r>
              <a:t>• Rate limiting</a:t>
            </a:r>
          </a:p>
        </p:txBody>
      </p:sp>
      <p:sp>
        <p:nvSpPr>
          <p:cNvPr id="8" name="Rectangle 7"/>
          <p:cNvSpPr/>
          <p:nvPr/>
        </p:nvSpPr>
        <p:spPr>
          <a:xfrm>
            <a:off x="4114800" y="1097280"/>
            <a:ext cx="3200400" cy="2194560"/>
          </a:xfrm>
          <a:prstGeom prst="rect">
            <a:avLst/>
          </a:prstGeom>
          <a:solidFill>
            <a:srgbClr val="1E293B"/>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51960" y="1188720"/>
            <a:ext cx="2926080" cy="320040"/>
          </a:xfrm>
          <a:prstGeom prst="rect">
            <a:avLst/>
          </a:prstGeom>
          <a:noFill/>
        </p:spPr>
        <p:txBody>
          <a:bodyPr wrap="square">
            <a:spAutoFit/>
          </a:bodyPr>
          <a:lstStyle/>
          <a:p>
            <a:pPr algn="ctr">
              <a:defRPr sz="1100" b="1">
                <a:solidFill>
                  <a:srgbClr val="06B6D4"/>
                </a:solidFill>
              </a:defRPr>
            </a:pPr>
            <a:r>
              <a:t>📄 Grade Extraction</a:t>
            </a:r>
          </a:p>
        </p:txBody>
      </p:sp>
      <p:sp>
        <p:nvSpPr>
          <p:cNvPr id="10" name="TextBox 9"/>
          <p:cNvSpPr txBox="1"/>
          <p:nvPr/>
        </p:nvSpPr>
        <p:spPr>
          <a:xfrm>
            <a:off x="4251960" y="1554480"/>
            <a:ext cx="2926080" cy="1600200"/>
          </a:xfrm>
          <a:prstGeom prst="rect">
            <a:avLst/>
          </a:prstGeom>
          <a:noFill/>
        </p:spPr>
        <p:txBody>
          <a:bodyPr wrap="square">
            <a:spAutoFit/>
          </a:bodyPr>
          <a:lstStyle/>
          <a:p>
            <a:pPr>
              <a:spcBef>
                <a:spcPts val="100"/>
              </a:spcBef>
              <a:defRPr sz="850">
                <a:solidFill>
                  <a:srgbClr val="94A3B8"/>
                </a:solidFill>
              </a:defRPr>
            </a:pPr>
            <a:r>
              <a:t>• PDF/Image upload</a:t>
            </a:r>
          </a:p>
          <a:p>
            <a:pPr>
              <a:spcBef>
                <a:spcPts val="100"/>
              </a:spcBef>
              <a:defRPr sz="850">
                <a:solidFill>
                  <a:srgbClr val="94A3B8"/>
                </a:solidFill>
              </a:defRPr>
            </a:pPr>
            <a:r>
              <a:t>• Image enhancement</a:t>
            </a:r>
          </a:p>
          <a:p>
            <a:pPr>
              <a:spcBef>
                <a:spcPts val="100"/>
              </a:spcBef>
              <a:defRPr sz="850">
                <a:solidFill>
                  <a:srgbClr val="94A3B8"/>
                </a:solidFill>
              </a:defRPr>
            </a:pPr>
            <a:r>
              <a:t>• Gemini Vision OCR</a:t>
            </a:r>
          </a:p>
          <a:p>
            <a:pPr>
              <a:spcBef>
                <a:spcPts val="100"/>
              </a:spcBef>
              <a:defRPr sz="850">
                <a:solidFill>
                  <a:srgbClr val="94A3B8"/>
                </a:solidFill>
              </a:defRPr>
            </a:pPr>
            <a:r>
              <a:t>• JSON parsing</a:t>
            </a:r>
          </a:p>
          <a:p>
            <a:pPr>
              <a:spcBef>
                <a:spcPts val="100"/>
              </a:spcBef>
              <a:defRPr sz="850">
                <a:solidFill>
                  <a:srgbClr val="94A3B8"/>
                </a:solidFill>
              </a:defRPr>
            </a:pPr>
            <a:r>
              <a:t>• User review</a:t>
            </a:r>
          </a:p>
        </p:txBody>
      </p:sp>
      <p:sp>
        <p:nvSpPr>
          <p:cNvPr id="11" name="Rectangle 10"/>
          <p:cNvSpPr/>
          <p:nvPr/>
        </p:nvSpPr>
        <p:spPr>
          <a:xfrm>
            <a:off x="7772400" y="1097280"/>
            <a:ext cx="3200400" cy="2194560"/>
          </a:xfrm>
          <a:prstGeom prst="rect">
            <a:avLst/>
          </a:prstGeom>
          <a:solidFill>
            <a:srgbClr val="1E293B"/>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9560" y="1188720"/>
            <a:ext cx="2926080" cy="320040"/>
          </a:xfrm>
          <a:prstGeom prst="rect">
            <a:avLst/>
          </a:prstGeom>
          <a:noFill/>
        </p:spPr>
        <p:txBody>
          <a:bodyPr wrap="square">
            <a:spAutoFit/>
          </a:bodyPr>
          <a:lstStyle/>
          <a:p>
            <a:pPr algn="ctr">
              <a:defRPr sz="1100" b="1">
                <a:solidFill>
                  <a:srgbClr val="F59E0B"/>
                </a:solidFill>
              </a:defRPr>
            </a:pPr>
            <a:r>
              <a:t>⚡ Risk Engine</a:t>
            </a:r>
          </a:p>
        </p:txBody>
      </p:sp>
      <p:sp>
        <p:nvSpPr>
          <p:cNvPr id="13" name="TextBox 12"/>
          <p:cNvSpPr txBox="1"/>
          <p:nvPr/>
        </p:nvSpPr>
        <p:spPr>
          <a:xfrm>
            <a:off x="7909560" y="1554480"/>
            <a:ext cx="2926080" cy="1600200"/>
          </a:xfrm>
          <a:prstGeom prst="rect">
            <a:avLst/>
          </a:prstGeom>
          <a:noFill/>
        </p:spPr>
        <p:txBody>
          <a:bodyPr wrap="square">
            <a:spAutoFit/>
          </a:bodyPr>
          <a:lstStyle/>
          <a:p>
            <a:pPr>
              <a:spcBef>
                <a:spcPts val="100"/>
              </a:spcBef>
              <a:defRPr sz="850">
                <a:solidFill>
                  <a:srgbClr val="94A3B8"/>
                </a:solidFill>
              </a:defRPr>
            </a:pPr>
            <a:r>
              <a:t>• CGPA formula</a:t>
            </a:r>
          </a:p>
          <a:p>
            <a:pPr>
              <a:spcBef>
                <a:spcPts val="100"/>
              </a:spcBef>
              <a:defRPr sz="850">
                <a:solidFill>
                  <a:srgbClr val="94A3B8"/>
                </a:solidFill>
              </a:defRPr>
            </a:pPr>
            <a:r>
              <a:t>• GPA + Backlog</a:t>
            </a:r>
          </a:p>
          <a:p>
            <a:pPr>
              <a:spcBef>
                <a:spcPts val="100"/>
              </a:spcBef>
              <a:defRPr sz="850">
                <a:solidFill>
                  <a:srgbClr val="94A3B8"/>
                </a:solidFill>
              </a:defRPr>
            </a:pPr>
            <a:r>
              <a:t>• Attendance risk</a:t>
            </a:r>
          </a:p>
          <a:p>
            <a:pPr>
              <a:spcBef>
                <a:spcPts val="100"/>
              </a:spcBef>
              <a:defRPr sz="850">
                <a:solidFill>
                  <a:srgbClr val="94A3B8"/>
                </a:solidFill>
              </a:defRPr>
            </a:pPr>
            <a:r>
              <a:t>• Risk levels</a:t>
            </a:r>
          </a:p>
          <a:p>
            <a:pPr>
              <a:spcBef>
                <a:spcPts val="100"/>
              </a:spcBef>
              <a:defRPr sz="850">
                <a:solidFill>
                  <a:srgbClr val="94A3B8"/>
                </a:solidFill>
              </a:defRPr>
            </a:pPr>
            <a:r>
              <a:t>• Confidence metric</a:t>
            </a:r>
          </a:p>
        </p:txBody>
      </p:sp>
      <p:sp>
        <p:nvSpPr>
          <p:cNvPr id="14" name="Rectangle 13"/>
          <p:cNvSpPr/>
          <p:nvPr/>
        </p:nvSpPr>
        <p:spPr>
          <a:xfrm>
            <a:off x="457200" y="3566160"/>
            <a:ext cx="3200400" cy="219456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657600"/>
            <a:ext cx="2926080" cy="320040"/>
          </a:xfrm>
          <a:prstGeom prst="rect">
            <a:avLst/>
          </a:prstGeom>
          <a:noFill/>
        </p:spPr>
        <p:txBody>
          <a:bodyPr wrap="square">
            <a:spAutoFit/>
          </a:bodyPr>
          <a:lstStyle/>
          <a:p>
            <a:pPr algn="ctr">
              <a:defRPr sz="1100" b="1">
                <a:solidFill>
                  <a:srgbClr val="3B82F6"/>
                </a:solidFill>
              </a:defRPr>
            </a:pPr>
            <a:r>
              <a:t>🧠 RAG Advisory</a:t>
            </a:r>
          </a:p>
        </p:txBody>
      </p:sp>
      <p:sp>
        <p:nvSpPr>
          <p:cNvPr id="16" name="TextBox 15"/>
          <p:cNvSpPr txBox="1"/>
          <p:nvPr/>
        </p:nvSpPr>
        <p:spPr>
          <a:xfrm>
            <a:off x="594360" y="4023360"/>
            <a:ext cx="2926080" cy="1600200"/>
          </a:xfrm>
          <a:prstGeom prst="rect">
            <a:avLst/>
          </a:prstGeom>
          <a:noFill/>
        </p:spPr>
        <p:txBody>
          <a:bodyPr wrap="square">
            <a:spAutoFit/>
          </a:bodyPr>
          <a:lstStyle/>
          <a:p>
            <a:pPr>
              <a:spcBef>
                <a:spcPts val="100"/>
              </a:spcBef>
              <a:defRPr sz="850">
                <a:solidFill>
                  <a:srgbClr val="94A3B8"/>
                </a:solidFill>
              </a:defRPr>
            </a:pPr>
            <a:r>
              <a:t>• 7 chunk types</a:t>
            </a:r>
          </a:p>
          <a:p>
            <a:pPr>
              <a:spcBef>
                <a:spcPts val="100"/>
              </a:spcBef>
              <a:defRPr sz="850">
                <a:solidFill>
                  <a:srgbClr val="94A3B8"/>
                </a:solidFill>
              </a:defRPr>
            </a:pPr>
            <a:r>
              <a:t>• ChromaDB embeddings</a:t>
            </a:r>
          </a:p>
          <a:p>
            <a:pPr>
              <a:spcBef>
                <a:spcPts val="100"/>
              </a:spcBef>
              <a:defRPr sz="850">
                <a:solidFill>
                  <a:srgbClr val="94A3B8"/>
                </a:solidFill>
              </a:defRPr>
            </a:pPr>
            <a:r>
              <a:t>• Semantic retrieval</a:t>
            </a:r>
          </a:p>
          <a:p>
            <a:pPr>
              <a:spcBef>
                <a:spcPts val="100"/>
              </a:spcBef>
              <a:defRPr sz="850">
                <a:solidFill>
                  <a:srgbClr val="94A3B8"/>
                </a:solidFill>
              </a:defRPr>
            </a:pPr>
            <a:r>
              <a:t>• Grounded LLM</a:t>
            </a:r>
          </a:p>
          <a:p>
            <a:pPr>
              <a:spcBef>
                <a:spcPts val="100"/>
              </a:spcBef>
              <a:defRPr sz="850">
                <a:solidFill>
                  <a:srgbClr val="94A3B8"/>
                </a:solidFill>
              </a:defRPr>
            </a:pPr>
            <a:r>
              <a:t>• Source citations</a:t>
            </a:r>
          </a:p>
        </p:txBody>
      </p:sp>
      <p:sp>
        <p:nvSpPr>
          <p:cNvPr id="17" name="Rectangle 16"/>
          <p:cNvSpPr/>
          <p:nvPr/>
        </p:nvSpPr>
        <p:spPr>
          <a:xfrm>
            <a:off x="4114800" y="3566160"/>
            <a:ext cx="3200400" cy="2194560"/>
          </a:xfrm>
          <a:prstGeom prst="rect">
            <a:avLst/>
          </a:prstGeom>
          <a:solidFill>
            <a:srgbClr val="1E293B"/>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51960" y="3657600"/>
            <a:ext cx="2926080" cy="320040"/>
          </a:xfrm>
          <a:prstGeom prst="rect">
            <a:avLst/>
          </a:prstGeom>
          <a:noFill/>
        </p:spPr>
        <p:txBody>
          <a:bodyPr wrap="square">
            <a:spAutoFit/>
          </a:bodyPr>
          <a:lstStyle/>
          <a:p>
            <a:pPr algn="ctr">
              <a:defRPr sz="1100" b="1">
                <a:solidFill>
                  <a:srgbClr val="22C55E"/>
                </a:solidFill>
              </a:defRPr>
            </a:pPr>
            <a:r>
              <a:t>👨‍🎓 Student Dashboard</a:t>
            </a:r>
          </a:p>
        </p:txBody>
      </p:sp>
      <p:sp>
        <p:nvSpPr>
          <p:cNvPr id="19" name="TextBox 18"/>
          <p:cNvSpPr txBox="1"/>
          <p:nvPr/>
        </p:nvSpPr>
        <p:spPr>
          <a:xfrm>
            <a:off x="4251960" y="4023360"/>
            <a:ext cx="2926080" cy="1600200"/>
          </a:xfrm>
          <a:prstGeom prst="rect">
            <a:avLst/>
          </a:prstGeom>
          <a:noFill/>
        </p:spPr>
        <p:txBody>
          <a:bodyPr wrap="square">
            <a:spAutoFit/>
          </a:bodyPr>
          <a:lstStyle/>
          <a:p>
            <a:pPr>
              <a:spcBef>
                <a:spcPts val="100"/>
              </a:spcBef>
              <a:defRPr sz="850">
                <a:solidFill>
                  <a:srgbClr val="94A3B8"/>
                </a:solidFill>
              </a:defRPr>
            </a:pPr>
            <a:r>
              <a:t>• Overview cards</a:t>
            </a:r>
          </a:p>
          <a:p>
            <a:pPr>
              <a:spcBef>
                <a:spcPts val="100"/>
              </a:spcBef>
              <a:defRPr sz="850">
                <a:solidFill>
                  <a:srgbClr val="94A3B8"/>
                </a:solidFill>
              </a:defRPr>
            </a:pPr>
            <a:r>
              <a:t>• Upload marks</a:t>
            </a:r>
          </a:p>
          <a:p>
            <a:pPr>
              <a:spcBef>
                <a:spcPts val="100"/>
              </a:spcBef>
              <a:defRPr sz="850">
                <a:solidFill>
                  <a:srgbClr val="94A3B8"/>
                </a:solidFill>
              </a:defRPr>
            </a:pPr>
            <a:r>
              <a:t>• Risk page</a:t>
            </a:r>
          </a:p>
          <a:p>
            <a:pPr>
              <a:spcBef>
                <a:spcPts val="100"/>
              </a:spcBef>
              <a:defRPr sz="850">
                <a:solidFill>
                  <a:srgbClr val="94A3B8"/>
                </a:solidFill>
              </a:defRPr>
            </a:pPr>
            <a:r>
              <a:t>• Attendance</a:t>
            </a:r>
          </a:p>
          <a:p>
            <a:pPr>
              <a:spcBef>
                <a:spcPts val="100"/>
              </a:spcBef>
              <a:defRPr sz="850">
                <a:solidFill>
                  <a:srgbClr val="94A3B8"/>
                </a:solidFill>
              </a:defRPr>
            </a:pPr>
            <a:r>
              <a:t>• AI advisory</a:t>
            </a:r>
          </a:p>
        </p:txBody>
      </p:sp>
      <p:sp>
        <p:nvSpPr>
          <p:cNvPr id="20" name="Rectangle 19"/>
          <p:cNvSpPr/>
          <p:nvPr/>
        </p:nvSpPr>
        <p:spPr>
          <a:xfrm>
            <a:off x="7772400" y="3566160"/>
            <a:ext cx="3200400" cy="2194560"/>
          </a:xfrm>
          <a:prstGeom prst="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09560" y="3657600"/>
            <a:ext cx="2926080" cy="320040"/>
          </a:xfrm>
          <a:prstGeom prst="rect">
            <a:avLst/>
          </a:prstGeom>
          <a:noFill/>
        </p:spPr>
        <p:txBody>
          <a:bodyPr wrap="square">
            <a:spAutoFit/>
          </a:bodyPr>
          <a:lstStyle/>
          <a:p>
            <a:pPr algn="ctr">
              <a:defRPr sz="1100" b="1">
                <a:solidFill>
                  <a:srgbClr val="EF4444"/>
                </a:solidFill>
              </a:defRPr>
            </a:pPr>
            <a:r>
              <a:t>👩‍🏫 Teacher Dashboard</a:t>
            </a:r>
          </a:p>
        </p:txBody>
      </p:sp>
      <p:sp>
        <p:nvSpPr>
          <p:cNvPr id="22" name="TextBox 21"/>
          <p:cNvSpPr txBox="1"/>
          <p:nvPr/>
        </p:nvSpPr>
        <p:spPr>
          <a:xfrm>
            <a:off x="7909560" y="4023360"/>
            <a:ext cx="2926080" cy="1600200"/>
          </a:xfrm>
          <a:prstGeom prst="rect">
            <a:avLst/>
          </a:prstGeom>
          <a:noFill/>
        </p:spPr>
        <p:txBody>
          <a:bodyPr wrap="square">
            <a:spAutoFit/>
          </a:bodyPr>
          <a:lstStyle/>
          <a:p>
            <a:pPr>
              <a:spcBef>
                <a:spcPts val="100"/>
              </a:spcBef>
              <a:defRPr sz="850">
                <a:solidFill>
                  <a:srgbClr val="94A3B8"/>
                </a:solidFill>
              </a:defRPr>
            </a:pPr>
            <a:r>
              <a:t>• Risk monitor</a:t>
            </a:r>
          </a:p>
          <a:p>
            <a:pPr>
              <a:spcBef>
                <a:spcPts val="100"/>
              </a:spcBef>
              <a:defRPr sz="850">
                <a:solidFill>
                  <a:srgbClr val="94A3B8"/>
                </a:solidFill>
              </a:defRPr>
            </a:pPr>
            <a:r>
              <a:t>• Student profile</a:t>
            </a:r>
          </a:p>
          <a:p>
            <a:pPr>
              <a:spcBef>
                <a:spcPts val="100"/>
              </a:spcBef>
              <a:defRPr sz="850">
                <a:solidFill>
                  <a:srgbClr val="94A3B8"/>
                </a:solidFill>
              </a:defRPr>
            </a:pPr>
            <a:r>
              <a:t>• Interventions</a:t>
            </a:r>
          </a:p>
          <a:p>
            <a:pPr>
              <a:spcBef>
                <a:spcPts val="100"/>
              </a:spcBef>
              <a:defRPr sz="850">
                <a:solidFill>
                  <a:srgbClr val="94A3B8"/>
                </a:solidFill>
              </a:defRPr>
            </a:pPr>
            <a:r>
              <a:t>• Analytics</a:t>
            </a:r>
          </a:p>
          <a:p>
            <a:pPr>
              <a:spcBef>
                <a:spcPts val="100"/>
              </a:spcBef>
              <a:defRPr sz="850">
                <a:solidFill>
                  <a:srgbClr val="94A3B8"/>
                </a:solidFill>
              </a:defRPr>
            </a:pPr>
            <a:r>
              <a:t>• CSV export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3657600" cy="457200"/>
          </a:xfrm>
          <a:prstGeom prst="rect">
            <a:avLst/>
          </a:prstGeom>
          <a:noFill/>
        </p:spPr>
        <p:txBody>
          <a:bodyPr wrap="none">
            <a:spAutoFit/>
          </a:bodyPr>
          <a:lstStyle/>
          <a:p>
            <a:pPr>
              <a:defRPr sz="1600" b="1">
                <a:solidFill>
                  <a:srgbClr val="3B82F6"/>
                </a:solidFill>
              </a:defRPr>
            </a:pPr>
            <a:r>
              <a:t>10 — Implementation</a:t>
            </a:r>
          </a:p>
        </p:txBody>
      </p:sp>
      <p:sp>
        <p:nvSpPr>
          <p:cNvPr id="3" name="TextBox 2"/>
          <p:cNvSpPr txBox="1"/>
          <p:nvPr/>
        </p:nvSpPr>
        <p:spPr>
          <a:xfrm>
            <a:off x="274320" y="6446520"/>
            <a:ext cx="2743200" cy="365760"/>
          </a:xfrm>
          <a:prstGeom prst="rect">
            <a:avLst/>
          </a:prstGeom>
          <a:noFill/>
        </p:spPr>
        <p:txBody>
          <a:bodyPr wrap="none">
            <a:spAutoFit/>
          </a:bodyPr>
          <a:lstStyle/>
          <a:p>
            <a:pPr>
              <a:defRPr sz="1000">
                <a:solidFill>
                  <a:srgbClr val="94A3B8"/>
                </a:solidFill>
              </a:defRPr>
            </a:pPr>
            <a:r>
              <a:t>SARS | SNIST 2024-25</a:t>
            </a:r>
          </a:p>
        </p:txBody>
      </p:sp>
      <p:sp>
        <p:nvSpPr>
          <p:cNvPr id="4" name="TextBox 3"/>
          <p:cNvSpPr txBox="1"/>
          <p:nvPr/>
        </p:nvSpPr>
        <p:spPr>
          <a:xfrm>
            <a:off x="10515600" y="6446520"/>
            <a:ext cx="1371600" cy="365760"/>
          </a:xfrm>
          <a:prstGeom prst="rect">
            <a:avLst/>
          </a:prstGeom>
          <a:noFill/>
        </p:spPr>
        <p:txBody>
          <a:bodyPr wrap="none">
            <a:spAutoFit/>
          </a:bodyPr>
          <a:lstStyle/>
          <a:p>
            <a:pPr algn="r">
              <a:defRPr sz="1000">
                <a:solidFill>
                  <a:srgbClr val="94A3B8"/>
                </a:solidFill>
              </a:defRPr>
            </a:pPr>
            <a:r>
              <a:t>Slide 12 / 19</a:t>
            </a:r>
          </a:p>
        </p:txBody>
      </p:sp>
      <p:sp>
        <p:nvSpPr>
          <p:cNvPr id="5" name="TextBox 4"/>
          <p:cNvSpPr txBox="1"/>
          <p:nvPr/>
        </p:nvSpPr>
        <p:spPr>
          <a:xfrm>
            <a:off x="457200" y="1097280"/>
            <a:ext cx="5486400" cy="5029200"/>
          </a:xfrm>
          <a:prstGeom prst="rect">
            <a:avLst/>
          </a:prstGeom>
          <a:noFill/>
        </p:spPr>
        <p:txBody>
          <a:bodyPr wrap="square">
            <a:spAutoFit/>
          </a:bodyPr>
          <a:lstStyle/>
          <a:p>
            <a:pPr>
              <a:spcBef>
                <a:spcPts val="800"/>
              </a:spcBef>
              <a:defRPr sz="1200" b="1">
                <a:solidFill>
                  <a:srgbClr val="06B6D4"/>
                </a:solidFill>
              </a:defRPr>
            </a:pPr>
            <a:r>
              <a:t>📝 User Registration</a:t>
            </a:r>
          </a:p>
          <a:p>
            <a:pPr>
              <a:spcBef>
                <a:spcPts val="800"/>
              </a:spcBef>
              <a:defRPr sz="1200" b="1">
                <a:solidFill>
                  <a:srgbClr val="06B6D4"/>
                </a:solidFill>
              </a:defRPr>
            </a:pPr>
            <a:r>
              <a:t>📤 Grade Upload</a:t>
            </a:r>
          </a:p>
          <a:p>
            <a:pPr>
              <a:spcBef>
                <a:spcPts val="800"/>
              </a:spcBef>
              <a:defRPr sz="1200" b="1">
                <a:solidFill>
                  <a:srgbClr val="06B6D4"/>
                </a:solidFill>
              </a:defRPr>
            </a:pPr>
            <a:r>
              <a:t>✅ Review Grades</a:t>
            </a:r>
          </a:p>
          <a:p>
            <a:pPr>
              <a:spcBef>
                <a:spcPts val="800"/>
              </a:spcBef>
              <a:defRPr sz="1200" b="1">
                <a:solidFill>
                  <a:srgbClr val="06B6D4"/>
                </a:solidFill>
              </a:defRPr>
            </a:pPr>
            <a:r>
              <a:t>⚡ Risk Computation</a:t>
            </a:r>
          </a:p>
          <a:p>
            <a:pPr>
              <a:spcBef>
                <a:spcPts val="800"/>
              </a:spcBef>
              <a:defRPr sz="1200" b="1">
                <a:solidFill>
                  <a:srgbClr val="06B6D4"/>
                </a:solidFill>
              </a:defRPr>
            </a:pPr>
            <a:r>
              <a:t>🧠 RAG Indexing</a:t>
            </a:r>
          </a:p>
          <a:p>
            <a:pPr>
              <a:spcBef>
                <a:spcPts val="800"/>
              </a:spcBef>
              <a:defRPr sz="1200" b="1">
                <a:solidFill>
                  <a:srgbClr val="06B6D4"/>
                </a:solidFill>
              </a:defRPr>
            </a:pPr>
            <a:r>
              <a:t>💬 AI Advisory</a:t>
            </a:r>
          </a:p>
          <a:p>
            <a:pPr>
              <a:spcBef>
                <a:spcPts val="800"/>
              </a:spcBef>
              <a:defRPr sz="1200" b="1">
                <a:solidFill>
                  <a:srgbClr val="06B6D4"/>
                </a:solidFill>
              </a:defRPr>
            </a:pPr>
            <a:r>
              <a:t>👩‍🏫 Teacher Monitor</a:t>
            </a:r>
          </a:p>
        </p:txBody>
      </p:sp>
      <p:sp>
        <p:nvSpPr>
          <p:cNvPr id="6" name="Rectangle 5"/>
          <p:cNvSpPr/>
          <p:nvPr/>
        </p:nvSpPr>
        <p:spPr>
          <a:xfrm>
            <a:off x="5943600" y="1097280"/>
            <a:ext cx="5790895" cy="5029200"/>
          </a:xfrm>
          <a:prstGeom prst="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80760" y="1234440"/>
            <a:ext cx="5577840" cy="4754880"/>
          </a:xfrm>
          <a:prstGeom prst="rect">
            <a:avLst/>
          </a:prstGeom>
          <a:noFill/>
        </p:spPr>
        <p:txBody>
          <a:bodyPr wrap="none">
            <a:spAutoFit/>
          </a:bodyPr>
          <a:lstStyle/>
          <a:p>
            <a:pPr>
              <a:defRPr sz="800">
                <a:solidFill>
                  <a:srgbClr val="06B6D4"/>
                </a:solidFill>
                <a:latin typeface="Courier New"/>
              </a:defRPr>
            </a:pPr>
            <a:r>
              <a:t>sars/</a:t>
            </a:r>
          </a:p>
          <a:p>
            <a:r>
              <a:t>├── backend/</a:t>
            </a:r>
          </a:p>
          <a:p>
            <a:r>
              <a:t>│   ├── app/</a:t>
            </a:r>
          </a:p>
          <a:p>
            <a:r>
              <a:t>│   │   ├── routes/</a:t>
            </a:r>
          </a:p>
          <a:p>
            <a:r>
              <a:t>│   │   │   ├── auth.py</a:t>
            </a:r>
          </a:p>
          <a:p>
            <a:r>
              <a:t>│   │   │   ├── student.py</a:t>
            </a:r>
          </a:p>
          <a:p>
            <a:r>
              <a:t>│   │   │   └── teacher.py</a:t>
            </a:r>
          </a:p>
          <a:p>
            <a:r>
              <a:t>│   │   ├── services/</a:t>
            </a:r>
          </a:p>
          <a:p>
            <a:r>
              <a:t>│   │   │   ├── grade_extractor.py</a:t>
            </a:r>
          </a:p>
          <a:p>
            <a:r>
              <a:t>│   │   │   ├── risk_engine.py</a:t>
            </a:r>
          </a:p>
          <a:p>
            <a:r>
              <a:t>│   │   │   ├── rag_service.py</a:t>
            </a:r>
          </a:p>
          <a:p>
            <a:r>
              <a:t>│   │   │   └── advisor.py</a:t>
            </a:r>
          </a:p>
          <a:p>
            <a:r>
              <a:t>│   │   └── models/</a:t>
            </a:r>
          </a:p>
          <a:p>
            <a:r>
              <a:t>│   │       └── models.py</a:t>
            </a:r>
          </a:p>
          <a:p>
            <a:r>
              <a:t>│   └── config.py</a:t>
            </a:r>
          </a:p>
          <a:p>
            <a:r>
              <a:t>└── frontend/</a:t>
            </a:r>
          </a:p>
          <a:p>
            <a:r>
              <a:t>    └── src/</a:t>
            </a:r>
          </a:p>
          <a:p>
            <a:r>
              <a:t>        ├── pages/student/</a:t>
            </a:r>
          </a:p>
          <a:p>
            <a:r>
              <a:t>        └── pages/teacher/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3657600" cy="457200"/>
          </a:xfrm>
          <a:prstGeom prst="rect">
            <a:avLst/>
          </a:prstGeom>
          <a:noFill/>
        </p:spPr>
        <p:txBody>
          <a:bodyPr wrap="none">
            <a:spAutoFit/>
          </a:bodyPr>
          <a:lstStyle/>
          <a:p>
            <a:pPr>
              <a:defRPr sz="1600" b="1">
                <a:solidFill>
                  <a:srgbClr val="3B82F6"/>
                </a:solidFill>
              </a:defRPr>
            </a:pPr>
            <a:r>
              <a:t>11 — Database Design</a:t>
            </a:r>
          </a:p>
        </p:txBody>
      </p:sp>
      <p:sp>
        <p:nvSpPr>
          <p:cNvPr id="3" name="TextBox 2"/>
          <p:cNvSpPr txBox="1"/>
          <p:nvPr/>
        </p:nvSpPr>
        <p:spPr>
          <a:xfrm>
            <a:off x="274320" y="6446520"/>
            <a:ext cx="2743200" cy="365760"/>
          </a:xfrm>
          <a:prstGeom prst="rect">
            <a:avLst/>
          </a:prstGeom>
          <a:noFill/>
        </p:spPr>
        <p:txBody>
          <a:bodyPr wrap="none">
            <a:spAutoFit/>
          </a:bodyPr>
          <a:lstStyle/>
          <a:p>
            <a:pPr>
              <a:defRPr sz="1000">
                <a:solidFill>
                  <a:srgbClr val="94A3B8"/>
                </a:solidFill>
              </a:defRPr>
            </a:pPr>
            <a:r>
              <a:t>SARS | SNIST 2024-25</a:t>
            </a:r>
          </a:p>
        </p:txBody>
      </p:sp>
      <p:sp>
        <p:nvSpPr>
          <p:cNvPr id="4" name="TextBox 3"/>
          <p:cNvSpPr txBox="1"/>
          <p:nvPr/>
        </p:nvSpPr>
        <p:spPr>
          <a:xfrm>
            <a:off x="10515600" y="6446520"/>
            <a:ext cx="1371600" cy="365760"/>
          </a:xfrm>
          <a:prstGeom prst="rect">
            <a:avLst/>
          </a:prstGeom>
          <a:noFill/>
        </p:spPr>
        <p:txBody>
          <a:bodyPr wrap="none">
            <a:spAutoFit/>
          </a:bodyPr>
          <a:lstStyle/>
          <a:p>
            <a:pPr algn="r">
              <a:defRPr sz="1000">
                <a:solidFill>
                  <a:srgbClr val="94A3B8"/>
                </a:solidFill>
              </a:defRPr>
            </a:pPr>
            <a:r>
              <a:t>Slide 13 / 19</a:t>
            </a:r>
          </a:p>
        </p:txBody>
      </p:sp>
      <p:sp>
        <p:nvSpPr>
          <p:cNvPr id="5" name="Rectangle 4"/>
          <p:cNvSpPr/>
          <p:nvPr/>
        </p:nvSpPr>
        <p:spPr>
          <a:xfrm>
            <a:off x="731520" y="822960"/>
            <a:ext cx="3291840" cy="731520"/>
          </a:xfrm>
          <a:prstGeom prst="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68680"/>
            <a:ext cx="3108960" cy="274320"/>
          </a:xfrm>
          <a:prstGeom prst="rect">
            <a:avLst/>
          </a:prstGeom>
          <a:noFill/>
        </p:spPr>
        <p:txBody>
          <a:bodyPr wrap="none">
            <a:spAutoFit/>
          </a:bodyPr>
          <a:lstStyle/>
          <a:p>
            <a:pPr algn="ctr">
              <a:defRPr sz="1400" b="1">
                <a:solidFill>
                  <a:srgbClr val="3B82F6"/>
                </a:solidFill>
              </a:defRPr>
            </a:pPr>
            <a:r>
              <a:t>11 Tables</a:t>
            </a:r>
          </a:p>
        </p:txBody>
      </p:sp>
      <p:sp>
        <p:nvSpPr>
          <p:cNvPr id="7" name="TextBox 6"/>
          <p:cNvSpPr txBox="1"/>
          <p:nvPr/>
        </p:nvSpPr>
        <p:spPr>
          <a:xfrm>
            <a:off x="822960" y="1143000"/>
            <a:ext cx="3108960" cy="182880"/>
          </a:xfrm>
          <a:prstGeom prst="rect">
            <a:avLst/>
          </a:prstGeom>
          <a:noFill/>
        </p:spPr>
        <p:txBody>
          <a:bodyPr wrap="none">
            <a:spAutoFit/>
          </a:bodyPr>
          <a:lstStyle/>
          <a:p>
            <a:pPr algn="ctr">
              <a:defRPr sz="900">
                <a:solidFill>
                  <a:srgbClr val="94A3B8"/>
                </a:solidFill>
              </a:defRPr>
            </a:pPr>
            <a:r>
              <a:t>Database Schema</a:t>
            </a:r>
          </a:p>
        </p:txBody>
      </p:sp>
      <p:sp>
        <p:nvSpPr>
          <p:cNvPr id="8" name="Rectangle 7"/>
          <p:cNvSpPr/>
          <p:nvPr/>
        </p:nvSpPr>
        <p:spPr>
          <a:xfrm>
            <a:off x="4206240" y="822960"/>
            <a:ext cx="3291840" cy="731520"/>
          </a:xfrm>
          <a:prstGeom prst="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79" y="868680"/>
            <a:ext cx="3108960" cy="274320"/>
          </a:xfrm>
          <a:prstGeom prst="rect">
            <a:avLst/>
          </a:prstGeom>
          <a:noFill/>
        </p:spPr>
        <p:txBody>
          <a:bodyPr wrap="none">
            <a:spAutoFit/>
          </a:bodyPr>
          <a:lstStyle/>
          <a:p>
            <a:pPr algn="ctr">
              <a:defRPr sz="1400" b="1">
                <a:solidFill>
                  <a:srgbClr val="3B82F6"/>
                </a:solidFill>
              </a:defRPr>
            </a:pPr>
            <a:r>
              <a:t>SQLite +</a:t>
            </a:r>
          </a:p>
        </p:txBody>
      </p:sp>
      <p:sp>
        <p:nvSpPr>
          <p:cNvPr id="10" name="TextBox 9"/>
          <p:cNvSpPr txBox="1"/>
          <p:nvPr/>
        </p:nvSpPr>
        <p:spPr>
          <a:xfrm>
            <a:off x="4297679" y="1143000"/>
            <a:ext cx="3108960" cy="182880"/>
          </a:xfrm>
          <a:prstGeom prst="rect">
            <a:avLst/>
          </a:prstGeom>
          <a:noFill/>
        </p:spPr>
        <p:txBody>
          <a:bodyPr wrap="none">
            <a:spAutoFit/>
          </a:bodyPr>
          <a:lstStyle/>
          <a:p>
            <a:pPr algn="ctr">
              <a:defRPr sz="900">
                <a:solidFill>
                  <a:srgbClr val="94A3B8"/>
                </a:solidFill>
              </a:defRPr>
            </a:pPr>
            <a:r>
              <a:t>SQLAlchemy ORM</a:t>
            </a:r>
          </a:p>
        </p:txBody>
      </p:sp>
      <p:sp>
        <p:nvSpPr>
          <p:cNvPr id="11" name="Rectangle 10"/>
          <p:cNvSpPr/>
          <p:nvPr/>
        </p:nvSpPr>
        <p:spPr>
          <a:xfrm>
            <a:off x="7680960" y="822960"/>
            <a:ext cx="3291840" cy="731520"/>
          </a:xfrm>
          <a:prstGeom prst="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868680"/>
            <a:ext cx="3108960" cy="274320"/>
          </a:xfrm>
          <a:prstGeom prst="rect">
            <a:avLst/>
          </a:prstGeom>
          <a:noFill/>
        </p:spPr>
        <p:txBody>
          <a:bodyPr wrap="none">
            <a:spAutoFit/>
          </a:bodyPr>
          <a:lstStyle/>
          <a:p>
            <a:pPr algn="ctr">
              <a:defRPr sz="1400" b="1">
                <a:solidFill>
                  <a:srgbClr val="3B82F6"/>
                </a:solidFill>
              </a:defRPr>
            </a:pPr>
            <a:r>
              <a:t>FK Indexed</a:t>
            </a:r>
          </a:p>
        </p:txBody>
      </p:sp>
      <p:sp>
        <p:nvSpPr>
          <p:cNvPr id="13" name="TextBox 12"/>
          <p:cNvSpPr txBox="1"/>
          <p:nvPr/>
        </p:nvSpPr>
        <p:spPr>
          <a:xfrm>
            <a:off x="7772400" y="1143000"/>
            <a:ext cx="3108960" cy="182880"/>
          </a:xfrm>
          <a:prstGeom prst="rect">
            <a:avLst/>
          </a:prstGeom>
          <a:noFill/>
        </p:spPr>
        <p:txBody>
          <a:bodyPr wrap="none">
            <a:spAutoFit/>
          </a:bodyPr>
          <a:lstStyle/>
          <a:p>
            <a:pPr algn="ctr">
              <a:defRPr sz="900">
                <a:solidFill>
                  <a:srgbClr val="94A3B8"/>
                </a:solidFill>
              </a:defRPr>
            </a:pPr>
            <a:r>
              <a:t>Performance</a:t>
            </a:r>
          </a:p>
        </p:txBody>
      </p:sp>
      <p:sp>
        <p:nvSpPr>
          <p:cNvPr id="14" name="Rectangle 13"/>
          <p:cNvSpPr/>
          <p:nvPr/>
        </p:nvSpPr>
        <p:spPr>
          <a:xfrm>
            <a:off x="457200" y="1737360"/>
            <a:ext cx="5669280" cy="1463040"/>
          </a:xfrm>
          <a:prstGeom prst="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1783080"/>
            <a:ext cx="5394960" cy="228600"/>
          </a:xfrm>
          <a:prstGeom prst="rect">
            <a:avLst/>
          </a:prstGeom>
          <a:noFill/>
        </p:spPr>
        <p:txBody>
          <a:bodyPr wrap="none">
            <a:spAutoFit/>
          </a:bodyPr>
          <a:lstStyle/>
          <a:p>
            <a:pPr>
              <a:defRPr sz="1000" b="1">
                <a:solidFill>
                  <a:srgbClr val="06B6D4"/>
                </a:solidFill>
              </a:defRPr>
            </a:pPr>
            <a:r>
              <a:t>📦 USERS</a:t>
            </a:r>
          </a:p>
        </p:txBody>
      </p:sp>
      <p:sp>
        <p:nvSpPr>
          <p:cNvPr id="16" name="TextBox 15"/>
          <p:cNvSpPr txBox="1"/>
          <p:nvPr/>
        </p:nvSpPr>
        <p:spPr>
          <a:xfrm>
            <a:off x="594360" y="2029967"/>
            <a:ext cx="5394960" cy="1097280"/>
          </a:xfrm>
          <a:prstGeom prst="rect">
            <a:avLst/>
          </a:prstGeom>
          <a:noFill/>
        </p:spPr>
        <p:txBody>
          <a:bodyPr wrap="square">
            <a:spAutoFit/>
          </a:bodyPr>
          <a:lstStyle/>
          <a:p>
            <a:pPr>
              <a:spcBef>
                <a:spcPts val="100"/>
              </a:spcBef>
              <a:defRPr sz="800">
                <a:solidFill>
                  <a:srgbClr val="F1F5F9"/>
                </a:solidFill>
              </a:defRPr>
            </a:pPr>
            <a:r>
              <a:t>id</a:t>
            </a:r>
          </a:p>
          <a:p>
            <a:pPr>
              <a:spcBef>
                <a:spcPts val="100"/>
              </a:spcBef>
              <a:defRPr sz="800">
                <a:solidFill>
                  <a:srgbClr val="F1F5F9"/>
                </a:solidFill>
              </a:defRPr>
            </a:pPr>
            <a:r>
              <a:t>email</a:t>
            </a:r>
          </a:p>
          <a:p>
            <a:pPr>
              <a:spcBef>
                <a:spcPts val="100"/>
              </a:spcBef>
              <a:defRPr sz="800">
                <a:solidFill>
                  <a:srgbClr val="F1F5F9"/>
                </a:solidFill>
              </a:defRPr>
            </a:pPr>
            <a:r>
              <a:t>full_name</a:t>
            </a:r>
          </a:p>
          <a:p>
            <a:pPr>
              <a:spcBef>
                <a:spcPts val="100"/>
              </a:spcBef>
              <a:defRPr sz="800">
                <a:solidFill>
                  <a:srgbClr val="F1F5F9"/>
                </a:solidFill>
              </a:defRPr>
            </a:pPr>
            <a:r>
              <a:t>password_hash</a:t>
            </a:r>
          </a:p>
          <a:p>
            <a:pPr>
              <a:spcBef>
                <a:spcPts val="100"/>
              </a:spcBef>
              <a:defRPr sz="800">
                <a:solidFill>
                  <a:srgbClr val="F1F5F9"/>
                </a:solidFill>
              </a:defRPr>
            </a:pPr>
            <a:r>
              <a:t>role</a:t>
            </a:r>
          </a:p>
        </p:txBody>
      </p:sp>
      <p:sp>
        <p:nvSpPr>
          <p:cNvPr id="17" name="Rectangle 16"/>
          <p:cNvSpPr/>
          <p:nvPr/>
        </p:nvSpPr>
        <p:spPr>
          <a:xfrm>
            <a:off x="6400800" y="1737360"/>
            <a:ext cx="5669280" cy="1463040"/>
          </a:xfrm>
          <a:prstGeom prst="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1783080"/>
            <a:ext cx="5394960" cy="228600"/>
          </a:xfrm>
          <a:prstGeom prst="rect">
            <a:avLst/>
          </a:prstGeom>
          <a:noFill/>
        </p:spPr>
        <p:txBody>
          <a:bodyPr wrap="none">
            <a:spAutoFit/>
          </a:bodyPr>
          <a:lstStyle/>
          <a:p>
            <a:pPr>
              <a:defRPr sz="1000" b="1">
                <a:solidFill>
                  <a:srgbClr val="06B6D4"/>
                </a:solidFill>
              </a:defRPr>
            </a:pPr>
            <a:r>
              <a:t>📦 STUDENTS</a:t>
            </a:r>
          </a:p>
        </p:txBody>
      </p:sp>
      <p:sp>
        <p:nvSpPr>
          <p:cNvPr id="19" name="TextBox 18"/>
          <p:cNvSpPr txBox="1"/>
          <p:nvPr/>
        </p:nvSpPr>
        <p:spPr>
          <a:xfrm>
            <a:off x="6537960" y="2029967"/>
            <a:ext cx="5394960" cy="1097280"/>
          </a:xfrm>
          <a:prstGeom prst="rect">
            <a:avLst/>
          </a:prstGeom>
          <a:noFill/>
        </p:spPr>
        <p:txBody>
          <a:bodyPr wrap="square">
            <a:spAutoFit/>
          </a:bodyPr>
          <a:lstStyle/>
          <a:p>
            <a:pPr>
              <a:spcBef>
                <a:spcPts val="100"/>
              </a:spcBef>
              <a:defRPr sz="800">
                <a:solidFill>
                  <a:srgbClr val="F1F5F9"/>
                </a:solidFill>
              </a:defRPr>
            </a:pPr>
            <a:r>
              <a:t>id</a:t>
            </a:r>
          </a:p>
          <a:p>
            <a:pPr>
              <a:spcBef>
                <a:spcPts val="100"/>
              </a:spcBef>
              <a:defRPr sz="800">
                <a:solidFill>
                  <a:srgbClr val="F1F5F9"/>
                </a:solidFill>
              </a:defRPr>
            </a:pPr>
            <a:r>
              <a:t>user_id(FK)</a:t>
            </a:r>
          </a:p>
          <a:p>
            <a:pPr>
              <a:spcBef>
                <a:spcPts val="100"/>
              </a:spcBef>
              <a:defRPr sz="800">
                <a:solidFill>
                  <a:srgbClr val="F1F5F9"/>
                </a:solidFill>
              </a:defRPr>
            </a:pPr>
            <a:r>
              <a:t>branch</a:t>
            </a:r>
          </a:p>
          <a:p>
            <a:pPr>
              <a:spcBef>
                <a:spcPts val="100"/>
              </a:spcBef>
              <a:defRPr sz="800">
                <a:solidFill>
                  <a:srgbClr val="F1F5F9"/>
                </a:solidFill>
              </a:defRPr>
            </a:pPr>
            <a:r>
              <a:t>cgpa</a:t>
            </a:r>
          </a:p>
        </p:txBody>
      </p:sp>
      <p:sp>
        <p:nvSpPr>
          <p:cNvPr id="20" name="Rectangle 19"/>
          <p:cNvSpPr/>
          <p:nvPr/>
        </p:nvSpPr>
        <p:spPr>
          <a:xfrm>
            <a:off x="457200" y="3383280"/>
            <a:ext cx="5669280" cy="1463040"/>
          </a:xfrm>
          <a:prstGeom prst="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3429000"/>
            <a:ext cx="5394960" cy="228600"/>
          </a:xfrm>
          <a:prstGeom prst="rect">
            <a:avLst/>
          </a:prstGeom>
          <a:noFill/>
        </p:spPr>
        <p:txBody>
          <a:bodyPr wrap="none">
            <a:spAutoFit/>
          </a:bodyPr>
          <a:lstStyle/>
          <a:p>
            <a:pPr>
              <a:defRPr sz="1000" b="1">
                <a:solidFill>
                  <a:srgbClr val="06B6D4"/>
                </a:solidFill>
              </a:defRPr>
            </a:pPr>
            <a:r>
              <a:t>📦 SEMESTER_RECORDS</a:t>
            </a:r>
          </a:p>
        </p:txBody>
      </p:sp>
      <p:sp>
        <p:nvSpPr>
          <p:cNvPr id="22" name="TextBox 21"/>
          <p:cNvSpPr txBox="1"/>
          <p:nvPr/>
        </p:nvSpPr>
        <p:spPr>
          <a:xfrm>
            <a:off x="594360" y="3675888"/>
            <a:ext cx="5394960" cy="1097280"/>
          </a:xfrm>
          <a:prstGeom prst="rect">
            <a:avLst/>
          </a:prstGeom>
          <a:noFill/>
        </p:spPr>
        <p:txBody>
          <a:bodyPr wrap="square">
            <a:spAutoFit/>
          </a:bodyPr>
          <a:lstStyle/>
          <a:p>
            <a:pPr>
              <a:spcBef>
                <a:spcPts val="100"/>
              </a:spcBef>
              <a:defRPr sz="800">
                <a:solidFill>
                  <a:srgbClr val="F1F5F9"/>
                </a:solidFill>
              </a:defRPr>
            </a:pPr>
            <a:r>
              <a:t>id</a:t>
            </a:r>
          </a:p>
          <a:p>
            <a:pPr>
              <a:spcBef>
                <a:spcPts val="100"/>
              </a:spcBef>
              <a:defRPr sz="800">
                <a:solidFill>
                  <a:srgbClr val="F1F5F9"/>
                </a:solidFill>
              </a:defRPr>
            </a:pPr>
            <a:r>
              <a:t>student_id(FK)</a:t>
            </a:r>
          </a:p>
          <a:p>
            <a:pPr>
              <a:spcBef>
                <a:spcPts val="100"/>
              </a:spcBef>
              <a:defRPr sz="800">
                <a:solidFill>
                  <a:srgbClr val="F1F5F9"/>
                </a:solidFill>
              </a:defRPr>
            </a:pPr>
            <a:r>
              <a:t>semester</a:t>
            </a:r>
          </a:p>
          <a:p>
            <a:pPr>
              <a:spcBef>
                <a:spcPts val="100"/>
              </a:spcBef>
              <a:defRPr sz="800">
                <a:solidFill>
                  <a:srgbClr val="F1F5F9"/>
                </a:solidFill>
              </a:defRPr>
            </a:pPr>
            <a:r>
              <a:t>gpa</a:t>
            </a:r>
          </a:p>
          <a:p>
            <a:pPr>
              <a:spcBef>
                <a:spcPts val="100"/>
              </a:spcBef>
              <a:defRPr sz="800">
                <a:solidFill>
                  <a:srgbClr val="F1F5F9"/>
                </a:solidFill>
              </a:defRPr>
            </a:pPr>
            <a:r>
              <a:t>credits</a:t>
            </a:r>
          </a:p>
        </p:txBody>
      </p:sp>
      <p:sp>
        <p:nvSpPr>
          <p:cNvPr id="23" name="Rectangle 22"/>
          <p:cNvSpPr/>
          <p:nvPr/>
        </p:nvSpPr>
        <p:spPr>
          <a:xfrm>
            <a:off x="6400800" y="3383280"/>
            <a:ext cx="5669280" cy="1463040"/>
          </a:xfrm>
          <a:prstGeom prst="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3429000"/>
            <a:ext cx="5394960" cy="228600"/>
          </a:xfrm>
          <a:prstGeom prst="rect">
            <a:avLst/>
          </a:prstGeom>
          <a:noFill/>
        </p:spPr>
        <p:txBody>
          <a:bodyPr wrap="none">
            <a:spAutoFit/>
          </a:bodyPr>
          <a:lstStyle/>
          <a:p>
            <a:pPr>
              <a:defRPr sz="1000" b="1">
                <a:solidFill>
                  <a:srgbClr val="06B6D4"/>
                </a:solidFill>
              </a:defRPr>
            </a:pPr>
            <a:r>
              <a:t>📦 SUBJECT_GRADES</a:t>
            </a:r>
          </a:p>
        </p:txBody>
      </p:sp>
      <p:sp>
        <p:nvSpPr>
          <p:cNvPr id="25" name="TextBox 24"/>
          <p:cNvSpPr txBox="1"/>
          <p:nvPr/>
        </p:nvSpPr>
        <p:spPr>
          <a:xfrm>
            <a:off x="6537960" y="3675888"/>
            <a:ext cx="5394960" cy="1097280"/>
          </a:xfrm>
          <a:prstGeom prst="rect">
            <a:avLst/>
          </a:prstGeom>
          <a:noFill/>
        </p:spPr>
        <p:txBody>
          <a:bodyPr wrap="square">
            <a:spAutoFit/>
          </a:bodyPr>
          <a:lstStyle/>
          <a:p>
            <a:pPr>
              <a:spcBef>
                <a:spcPts val="100"/>
              </a:spcBef>
              <a:defRPr sz="800">
                <a:solidFill>
                  <a:srgbClr val="F1F5F9"/>
                </a:solidFill>
              </a:defRPr>
            </a:pPr>
            <a:r>
              <a:t>id</a:t>
            </a:r>
          </a:p>
          <a:p>
            <a:pPr>
              <a:spcBef>
                <a:spcPts val="100"/>
              </a:spcBef>
              <a:defRPr sz="800">
                <a:solidFill>
                  <a:srgbClr val="F1F5F9"/>
                </a:solidFill>
              </a:defRPr>
            </a:pPr>
            <a:r>
              <a:t>semester_id(FK)</a:t>
            </a:r>
          </a:p>
          <a:p>
            <a:pPr>
              <a:spcBef>
                <a:spcPts val="100"/>
              </a:spcBef>
              <a:defRPr sz="800">
                <a:solidFill>
                  <a:srgbClr val="F1F5F9"/>
                </a:solidFill>
              </a:defRPr>
            </a:pPr>
            <a:r>
              <a:t>subject</a:t>
            </a:r>
          </a:p>
          <a:p>
            <a:pPr>
              <a:spcBef>
                <a:spcPts val="100"/>
              </a:spcBef>
              <a:defRPr sz="800">
                <a:solidFill>
                  <a:srgbClr val="F1F5F9"/>
                </a:solidFill>
              </a:defRPr>
            </a:pPr>
            <a:r>
              <a:t>grade</a:t>
            </a:r>
          </a:p>
          <a:p>
            <a:pPr>
              <a:spcBef>
                <a:spcPts val="100"/>
              </a:spcBef>
              <a:defRPr sz="800">
                <a:solidFill>
                  <a:srgbClr val="F1F5F9"/>
                </a:solidFill>
              </a:defRPr>
            </a:pPr>
            <a:r>
              <a:t>credits</a:t>
            </a:r>
          </a:p>
        </p:txBody>
      </p:sp>
      <p:sp>
        <p:nvSpPr>
          <p:cNvPr id="26" name="Rectangle 25"/>
          <p:cNvSpPr/>
          <p:nvPr/>
        </p:nvSpPr>
        <p:spPr>
          <a:xfrm>
            <a:off x="457200" y="5029200"/>
            <a:ext cx="5669280" cy="1463040"/>
          </a:xfrm>
          <a:prstGeom prst="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5074920"/>
            <a:ext cx="5394960" cy="228600"/>
          </a:xfrm>
          <a:prstGeom prst="rect">
            <a:avLst/>
          </a:prstGeom>
          <a:noFill/>
        </p:spPr>
        <p:txBody>
          <a:bodyPr wrap="none">
            <a:spAutoFit/>
          </a:bodyPr>
          <a:lstStyle/>
          <a:p>
            <a:pPr>
              <a:defRPr sz="1000" b="1">
                <a:solidFill>
                  <a:srgbClr val="06B6D4"/>
                </a:solidFill>
              </a:defRPr>
            </a:pPr>
            <a:r>
              <a:t>📦 ATTENDANCE_RECORDS</a:t>
            </a:r>
          </a:p>
        </p:txBody>
      </p:sp>
      <p:sp>
        <p:nvSpPr>
          <p:cNvPr id="28" name="TextBox 27"/>
          <p:cNvSpPr txBox="1"/>
          <p:nvPr/>
        </p:nvSpPr>
        <p:spPr>
          <a:xfrm>
            <a:off x="594360" y="5321808"/>
            <a:ext cx="5394960" cy="1097280"/>
          </a:xfrm>
          <a:prstGeom prst="rect">
            <a:avLst/>
          </a:prstGeom>
          <a:noFill/>
        </p:spPr>
        <p:txBody>
          <a:bodyPr wrap="square">
            <a:spAutoFit/>
          </a:bodyPr>
          <a:lstStyle/>
          <a:p>
            <a:pPr>
              <a:spcBef>
                <a:spcPts val="100"/>
              </a:spcBef>
              <a:defRPr sz="800">
                <a:solidFill>
                  <a:srgbClr val="F1F5F9"/>
                </a:solidFill>
              </a:defRPr>
            </a:pPr>
            <a:r>
              <a:t>id</a:t>
            </a:r>
          </a:p>
          <a:p>
            <a:pPr>
              <a:spcBef>
                <a:spcPts val="100"/>
              </a:spcBef>
              <a:defRPr sz="800">
                <a:solidFill>
                  <a:srgbClr val="F1F5F9"/>
                </a:solidFill>
              </a:defRPr>
            </a:pPr>
            <a:r>
              <a:t>student_id(FK)</a:t>
            </a:r>
          </a:p>
          <a:p>
            <a:pPr>
              <a:spcBef>
                <a:spcPts val="100"/>
              </a:spcBef>
              <a:defRPr sz="800">
                <a:solidFill>
                  <a:srgbClr val="F1F5F9"/>
                </a:solidFill>
              </a:defRPr>
            </a:pPr>
            <a:r>
              <a:t>attended</a:t>
            </a:r>
          </a:p>
          <a:p>
            <a:pPr>
              <a:spcBef>
                <a:spcPts val="100"/>
              </a:spcBef>
              <a:defRPr sz="800">
                <a:solidFill>
                  <a:srgbClr val="F1F5F9"/>
                </a:solidFill>
              </a:defRPr>
            </a:pPr>
            <a:r>
              <a:t>total</a:t>
            </a:r>
          </a:p>
        </p:txBody>
      </p:sp>
      <p:sp>
        <p:nvSpPr>
          <p:cNvPr id="29" name="Rectangle 28"/>
          <p:cNvSpPr/>
          <p:nvPr/>
        </p:nvSpPr>
        <p:spPr>
          <a:xfrm>
            <a:off x="6400800" y="5029200"/>
            <a:ext cx="5669280" cy="1463040"/>
          </a:xfrm>
          <a:prstGeom prst="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37960" y="5074920"/>
            <a:ext cx="5394960" cy="228600"/>
          </a:xfrm>
          <a:prstGeom prst="rect">
            <a:avLst/>
          </a:prstGeom>
          <a:noFill/>
        </p:spPr>
        <p:txBody>
          <a:bodyPr wrap="none">
            <a:spAutoFit/>
          </a:bodyPr>
          <a:lstStyle/>
          <a:p>
            <a:pPr>
              <a:defRPr sz="1000" b="1">
                <a:solidFill>
                  <a:srgbClr val="06B6D4"/>
                </a:solidFill>
              </a:defRPr>
            </a:pPr>
            <a:r>
              <a:t>📦 RISK_SCORES</a:t>
            </a:r>
          </a:p>
        </p:txBody>
      </p:sp>
      <p:sp>
        <p:nvSpPr>
          <p:cNvPr id="31" name="TextBox 30"/>
          <p:cNvSpPr txBox="1"/>
          <p:nvPr/>
        </p:nvSpPr>
        <p:spPr>
          <a:xfrm>
            <a:off x="6537960" y="5321808"/>
            <a:ext cx="5394960" cy="1097280"/>
          </a:xfrm>
          <a:prstGeom prst="rect">
            <a:avLst/>
          </a:prstGeom>
          <a:noFill/>
        </p:spPr>
        <p:txBody>
          <a:bodyPr wrap="square">
            <a:spAutoFit/>
          </a:bodyPr>
          <a:lstStyle/>
          <a:p>
            <a:pPr>
              <a:spcBef>
                <a:spcPts val="100"/>
              </a:spcBef>
              <a:defRPr sz="800">
                <a:solidFill>
                  <a:srgbClr val="F1F5F9"/>
                </a:solidFill>
              </a:defRPr>
            </a:pPr>
            <a:r>
              <a:t>id</a:t>
            </a:r>
          </a:p>
          <a:p>
            <a:pPr>
              <a:spcBef>
                <a:spcPts val="100"/>
              </a:spcBef>
              <a:defRPr sz="800">
                <a:solidFill>
                  <a:srgbClr val="F1F5F9"/>
                </a:solidFill>
              </a:defRPr>
            </a:pPr>
            <a:r>
              <a:t>student_id(FK)</a:t>
            </a:r>
          </a:p>
          <a:p>
            <a:pPr>
              <a:spcBef>
                <a:spcPts val="100"/>
              </a:spcBef>
              <a:defRPr sz="800">
                <a:solidFill>
                  <a:srgbClr val="F1F5F9"/>
                </a:solidFill>
              </a:defRPr>
            </a:pPr>
            <a:r>
              <a:t>score</a:t>
            </a:r>
          </a:p>
          <a:p>
            <a:pPr>
              <a:spcBef>
                <a:spcPts val="100"/>
              </a:spcBef>
              <a:defRPr sz="800">
                <a:solidFill>
                  <a:srgbClr val="F1F5F9"/>
                </a:solidFill>
              </a:defRPr>
            </a:pPr>
            <a:r>
              <a:t>level</a:t>
            </a:r>
          </a:p>
          <a:p>
            <a:pPr>
              <a:spcBef>
                <a:spcPts val="100"/>
              </a:spcBef>
              <a:defRPr sz="800">
                <a:solidFill>
                  <a:srgbClr val="F1F5F9"/>
                </a:solidFill>
              </a:defRPr>
            </a:pPr>
            <a:r>
              <a:t>timestamp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3657600" cy="457200"/>
          </a:xfrm>
          <a:prstGeom prst="rect">
            <a:avLst/>
          </a:prstGeom>
          <a:noFill/>
        </p:spPr>
        <p:txBody>
          <a:bodyPr wrap="none">
            <a:spAutoFit/>
          </a:bodyPr>
          <a:lstStyle/>
          <a:p>
            <a:pPr>
              <a:defRPr sz="1600" b="1">
                <a:solidFill>
                  <a:srgbClr val="3B82F6"/>
                </a:solidFill>
              </a:defRPr>
            </a:pPr>
            <a:r>
              <a:t>12 — Key Code Snippets</a:t>
            </a:r>
          </a:p>
        </p:txBody>
      </p:sp>
      <p:sp>
        <p:nvSpPr>
          <p:cNvPr id="3" name="TextBox 2"/>
          <p:cNvSpPr txBox="1"/>
          <p:nvPr/>
        </p:nvSpPr>
        <p:spPr>
          <a:xfrm>
            <a:off x="274320" y="6446520"/>
            <a:ext cx="2743200" cy="365760"/>
          </a:xfrm>
          <a:prstGeom prst="rect">
            <a:avLst/>
          </a:prstGeom>
          <a:noFill/>
        </p:spPr>
        <p:txBody>
          <a:bodyPr wrap="none">
            <a:spAutoFit/>
          </a:bodyPr>
          <a:lstStyle/>
          <a:p>
            <a:pPr>
              <a:defRPr sz="1000">
                <a:solidFill>
                  <a:srgbClr val="94A3B8"/>
                </a:solidFill>
              </a:defRPr>
            </a:pPr>
            <a:r>
              <a:t>SARS | SNIST 2024-25</a:t>
            </a:r>
          </a:p>
        </p:txBody>
      </p:sp>
      <p:sp>
        <p:nvSpPr>
          <p:cNvPr id="4" name="TextBox 3"/>
          <p:cNvSpPr txBox="1"/>
          <p:nvPr/>
        </p:nvSpPr>
        <p:spPr>
          <a:xfrm>
            <a:off x="10515600" y="6446520"/>
            <a:ext cx="1371600" cy="365760"/>
          </a:xfrm>
          <a:prstGeom prst="rect">
            <a:avLst/>
          </a:prstGeom>
          <a:noFill/>
        </p:spPr>
        <p:txBody>
          <a:bodyPr wrap="none">
            <a:spAutoFit/>
          </a:bodyPr>
          <a:lstStyle/>
          <a:p>
            <a:pPr algn="r">
              <a:defRPr sz="1000">
                <a:solidFill>
                  <a:srgbClr val="94A3B8"/>
                </a:solidFill>
              </a:defRPr>
            </a:pPr>
            <a:r>
              <a:t>Slide 14 / 19</a:t>
            </a:r>
          </a:p>
        </p:txBody>
      </p:sp>
      <p:sp>
        <p:nvSpPr>
          <p:cNvPr id="5" name="TextBox 4"/>
          <p:cNvSpPr txBox="1"/>
          <p:nvPr/>
        </p:nvSpPr>
        <p:spPr>
          <a:xfrm>
            <a:off x="457200" y="1097280"/>
            <a:ext cx="11277295" cy="228600"/>
          </a:xfrm>
          <a:prstGeom prst="rect">
            <a:avLst/>
          </a:prstGeom>
          <a:noFill/>
        </p:spPr>
        <p:txBody>
          <a:bodyPr wrap="none">
            <a:spAutoFit/>
          </a:bodyPr>
          <a:lstStyle/>
          <a:p>
            <a:pPr>
              <a:defRPr sz="1000" b="1">
                <a:solidFill>
                  <a:srgbClr val="06B6D4"/>
                </a:solidFill>
              </a:defRPr>
            </a:pPr>
            <a:r>
              <a:t>risk_engine.py — SARS Score Formula</a:t>
            </a:r>
          </a:p>
        </p:txBody>
      </p:sp>
      <p:sp>
        <p:nvSpPr>
          <p:cNvPr id="6" name="Rectangle 5"/>
          <p:cNvSpPr/>
          <p:nvPr/>
        </p:nvSpPr>
        <p:spPr>
          <a:xfrm>
            <a:off x="457200" y="1353312"/>
            <a:ext cx="11277295" cy="1463040"/>
          </a:xfrm>
          <a:prstGeom prst="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444752"/>
            <a:ext cx="11064240" cy="1280160"/>
          </a:xfrm>
          <a:prstGeom prst="rect">
            <a:avLst/>
          </a:prstGeom>
          <a:noFill/>
        </p:spPr>
        <p:txBody>
          <a:bodyPr wrap="none">
            <a:spAutoFit/>
          </a:bodyPr>
          <a:lstStyle/>
          <a:p>
            <a:pPr>
              <a:defRPr sz="800">
                <a:solidFill>
                  <a:srgbClr val="06B6D4"/>
                </a:solidFill>
                <a:latin typeface="Courier New"/>
              </a:defRPr>
            </a:pPr>
            <a:r>
              <a:t>gpa_risk = max(0.0, (7.5 - cgpa) / 7.5 * 100)</a:t>
            </a:r>
          </a:p>
          <a:p>
            <a:r>
              <a:t>backlog_map = {0:0, 1:40, 2:60, 3:80, 4:90}</a:t>
            </a:r>
          </a:p>
          <a:p>
            <a:r>
              <a:t>backlog_risk = backlog_map.get(backlogs, 100)</a:t>
            </a:r>
          </a:p>
          <a:p/>
          <a:p>
            <a:r>
              <a:t>sars_score = (gpa_risk * 0.40 +</a:t>
            </a:r>
          </a:p>
          <a:p>
            <a:r>
              <a:t>              backlog_risk * 0.35 +</a:t>
            </a:r>
          </a:p>
          <a:p>
            <a:r>
              <a:t>              attendance_risk * 0.25)</a:t>
            </a:r>
          </a:p>
        </p:txBody>
      </p:sp>
      <p:sp>
        <p:nvSpPr>
          <p:cNvPr id="8" name="TextBox 7"/>
          <p:cNvSpPr txBox="1"/>
          <p:nvPr/>
        </p:nvSpPr>
        <p:spPr>
          <a:xfrm>
            <a:off x="457200" y="2880360"/>
            <a:ext cx="11277295" cy="228600"/>
          </a:xfrm>
          <a:prstGeom prst="rect">
            <a:avLst/>
          </a:prstGeom>
          <a:noFill/>
        </p:spPr>
        <p:txBody>
          <a:bodyPr wrap="none">
            <a:spAutoFit/>
          </a:bodyPr>
          <a:lstStyle/>
          <a:p>
            <a:pPr>
              <a:defRPr sz="1000" b="1">
                <a:solidFill>
                  <a:srgbClr val="06B6D4"/>
                </a:solidFill>
              </a:defRPr>
            </a:pPr>
            <a:r>
              <a:t>risk_engine.py — Credits-Weighted CGPA</a:t>
            </a:r>
          </a:p>
        </p:txBody>
      </p:sp>
      <p:sp>
        <p:nvSpPr>
          <p:cNvPr id="9" name="Rectangle 8"/>
          <p:cNvSpPr/>
          <p:nvPr/>
        </p:nvSpPr>
        <p:spPr>
          <a:xfrm>
            <a:off x="457200" y="3136391"/>
            <a:ext cx="11277295" cy="1463040"/>
          </a:xfrm>
          <a:prstGeom prst="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3227832"/>
            <a:ext cx="11064240" cy="1280160"/>
          </a:xfrm>
          <a:prstGeom prst="rect">
            <a:avLst/>
          </a:prstGeom>
          <a:noFill/>
        </p:spPr>
        <p:txBody>
          <a:bodyPr wrap="none">
            <a:spAutoFit/>
          </a:bodyPr>
          <a:lstStyle/>
          <a:p>
            <a:pPr>
              <a:defRPr sz="800">
                <a:solidFill>
                  <a:srgbClr val="06B6D4"/>
                </a:solidFill>
                <a:latin typeface="Courier New"/>
              </a:defRPr>
            </a:pPr>
            <a:r>
              <a:t>def compute_cgpa(student_id, db):</a:t>
            </a:r>
          </a:p>
          <a:p>
            <a:r>
              <a:t>    records = db.query(SemesterRecord)\</a:t>
            </a:r>
          </a:p>
          <a:p>
            <a:r>
              <a:t>                .filter_by(student_id=student_id).all()</a:t>
            </a:r>
          </a:p>
          <a:p>
            <a:r>
              <a:t>    total_pts = sum(r.gpa * r.credits</a:t>
            </a:r>
          </a:p>
          <a:p>
            <a:r>
              <a:t>                   for r in records)</a:t>
            </a:r>
          </a:p>
          <a:p>
            <a:r>
              <a:t>    total_cr = sum(r.credits for r in records)</a:t>
            </a:r>
          </a:p>
          <a:p>
            <a:r>
              <a:t>    return round(total_pts / total_cr, 2)</a:t>
            </a:r>
          </a:p>
        </p:txBody>
      </p:sp>
      <p:sp>
        <p:nvSpPr>
          <p:cNvPr id="11" name="TextBox 10"/>
          <p:cNvSpPr txBox="1"/>
          <p:nvPr/>
        </p:nvSpPr>
        <p:spPr>
          <a:xfrm>
            <a:off x="457200" y="4663440"/>
            <a:ext cx="11277295" cy="228600"/>
          </a:xfrm>
          <a:prstGeom prst="rect">
            <a:avLst/>
          </a:prstGeom>
          <a:noFill/>
        </p:spPr>
        <p:txBody>
          <a:bodyPr wrap="none">
            <a:spAutoFit/>
          </a:bodyPr>
          <a:lstStyle/>
          <a:p>
            <a:pPr>
              <a:defRPr sz="1000" b="1">
                <a:solidFill>
                  <a:srgbClr val="06B6D4"/>
                </a:solidFill>
              </a:defRPr>
            </a:pPr>
            <a:r>
              <a:t>rag_service.py — Semantic Retrieval</a:t>
            </a:r>
          </a:p>
        </p:txBody>
      </p:sp>
      <p:sp>
        <p:nvSpPr>
          <p:cNvPr id="12" name="Rectangle 11"/>
          <p:cNvSpPr/>
          <p:nvPr/>
        </p:nvSpPr>
        <p:spPr>
          <a:xfrm>
            <a:off x="457200" y="4919472"/>
            <a:ext cx="11277295" cy="1463040"/>
          </a:xfrm>
          <a:prstGeom prst="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5010912"/>
            <a:ext cx="11064240" cy="1280160"/>
          </a:xfrm>
          <a:prstGeom prst="rect">
            <a:avLst/>
          </a:prstGeom>
          <a:noFill/>
        </p:spPr>
        <p:txBody>
          <a:bodyPr wrap="none">
            <a:spAutoFit/>
          </a:bodyPr>
          <a:lstStyle/>
          <a:p>
            <a:pPr>
              <a:defRPr sz="800">
                <a:solidFill>
                  <a:srgbClr val="06B6D4"/>
                </a:solidFill>
                <a:latin typeface="Courier New"/>
              </a:defRPr>
            </a:pPr>
            <a:r>
              <a:t>def retrieve(student_id, query, n=4):</a:t>
            </a:r>
          </a:p>
          <a:p>
            <a:r>
              <a:t>    query_emb = genai.embed_content(</a:t>
            </a:r>
          </a:p>
          <a:p>
            <a:r>
              <a:t>        model="text-embedding-004",</a:t>
            </a:r>
          </a:p>
          <a:p>
            <a:r>
              <a:t>        content=query)</a:t>
            </a:r>
          </a:p>
          <a:p>
            <a:r>
              <a:t>    results = db.query(</a:t>
            </a:r>
          </a:p>
          <a:p>
            <a:r>
              <a:t>        query_embeddings=[query_emb],</a:t>
            </a:r>
          </a:p>
          <a:p>
            <a:r>
              <a:t>        n_results=n,</a:t>
            </a:r>
          </a:p>
          <a:p>
            <a:r>
              <a:t>        where={"student_id": str(student_id)})</a:t>
            </a:r>
          </a:p>
          <a:p>
            <a:r>
              <a:t>    return results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3657600" cy="457200"/>
          </a:xfrm>
          <a:prstGeom prst="rect">
            <a:avLst/>
          </a:prstGeom>
          <a:noFill/>
        </p:spPr>
        <p:txBody>
          <a:bodyPr wrap="none">
            <a:spAutoFit/>
          </a:bodyPr>
          <a:lstStyle/>
          <a:p>
            <a:pPr>
              <a:defRPr sz="1600" b="1">
                <a:solidFill>
                  <a:srgbClr val="3B82F6"/>
                </a:solidFill>
              </a:defRPr>
            </a:pPr>
            <a:r>
              <a:t>13 — Results and Screenshots</a:t>
            </a:r>
          </a:p>
        </p:txBody>
      </p:sp>
      <p:sp>
        <p:nvSpPr>
          <p:cNvPr id="3" name="TextBox 2"/>
          <p:cNvSpPr txBox="1"/>
          <p:nvPr/>
        </p:nvSpPr>
        <p:spPr>
          <a:xfrm>
            <a:off x="274320" y="6446520"/>
            <a:ext cx="2743200" cy="365760"/>
          </a:xfrm>
          <a:prstGeom prst="rect">
            <a:avLst/>
          </a:prstGeom>
          <a:noFill/>
        </p:spPr>
        <p:txBody>
          <a:bodyPr wrap="none">
            <a:spAutoFit/>
          </a:bodyPr>
          <a:lstStyle/>
          <a:p>
            <a:pPr>
              <a:defRPr sz="1000">
                <a:solidFill>
                  <a:srgbClr val="94A3B8"/>
                </a:solidFill>
              </a:defRPr>
            </a:pPr>
            <a:r>
              <a:t>SARS | SNIST 2024-25</a:t>
            </a:r>
          </a:p>
        </p:txBody>
      </p:sp>
      <p:sp>
        <p:nvSpPr>
          <p:cNvPr id="4" name="TextBox 3"/>
          <p:cNvSpPr txBox="1"/>
          <p:nvPr/>
        </p:nvSpPr>
        <p:spPr>
          <a:xfrm>
            <a:off x="10515600" y="6446520"/>
            <a:ext cx="1371600" cy="365760"/>
          </a:xfrm>
          <a:prstGeom prst="rect">
            <a:avLst/>
          </a:prstGeom>
          <a:noFill/>
        </p:spPr>
        <p:txBody>
          <a:bodyPr wrap="none">
            <a:spAutoFit/>
          </a:bodyPr>
          <a:lstStyle/>
          <a:p>
            <a:pPr algn="r">
              <a:defRPr sz="1000">
                <a:solidFill>
                  <a:srgbClr val="94A3B8"/>
                </a:solidFill>
              </a:defRPr>
            </a:pPr>
            <a:r>
              <a:t>Slide 15 / 19</a:t>
            </a:r>
          </a:p>
        </p:txBody>
      </p:sp>
      <p:sp>
        <p:nvSpPr>
          <p:cNvPr id="5" name="Rectangle 4"/>
          <p:cNvSpPr/>
          <p:nvPr/>
        </p:nvSpPr>
        <p:spPr>
          <a:xfrm>
            <a:off x="457200" y="1097280"/>
            <a:ext cx="3657600" cy="2103120"/>
          </a:xfrm>
          <a:prstGeom prst="rect">
            <a:avLst/>
          </a:prstGeom>
          <a:solidFill>
            <a:srgbClr val="1E293B"/>
          </a:solidFill>
          <a:ln w="25400">
            <a:solidFill>
              <a:srgbClr val="3B82F6"/>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874519"/>
            <a:ext cx="3383280" cy="548640"/>
          </a:xfrm>
          <a:prstGeom prst="rect">
            <a:avLst/>
          </a:prstGeom>
          <a:noFill/>
        </p:spPr>
        <p:txBody>
          <a:bodyPr wrap="square">
            <a:spAutoFit/>
          </a:bodyPr>
          <a:lstStyle/>
          <a:p>
            <a:pPr algn="ctr">
              <a:defRPr sz="1100" b="1">
                <a:solidFill>
                  <a:srgbClr val="3B82F6"/>
                </a:solidFill>
              </a:defRPr>
            </a:pPr>
            <a:r>
              <a:t>Student Login Page</a:t>
            </a:r>
          </a:p>
        </p:txBody>
      </p:sp>
      <p:sp>
        <p:nvSpPr>
          <p:cNvPr id="7" name="TextBox 6"/>
          <p:cNvSpPr txBox="1"/>
          <p:nvPr/>
        </p:nvSpPr>
        <p:spPr>
          <a:xfrm>
            <a:off x="594360" y="2514600"/>
            <a:ext cx="3383280" cy="548640"/>
          </a:xfrm>
          <a:prstGeom prst="rect">
            <a:avLst/>
          </a:prstGeom>
          <a:noFill/>
        </p:spPr>
        <p:txBody>
          <a:bodyPr wrap="square">
            <a:spAutoFit/>
          </a:bodyPr>
          <a:lstStyle/>
          <a:p>
            <a:pPr algn="ctr">
              <a:defRPr sz="900">
                <a:solidFill>
                  <a:srgbClr val="94A3B8"/>
                </a:solidFill>
              </a:defRPr>
            </a:pPr>
            <a:r>
              <a:t>Role-based authentication</a:t>
            </a:r>
          </a:p>
        </p:txBody>
      </p:sp>
      <p:sp>
        <p:nvSpPr>
          <p:cNvPr id="8" name="Rectangle 7"/>
          <p:cNvSpPr/>
          <p:nvPr/>
        </p:nvSpPr>
        <p:spPr>
          <a:xfrm>
            <a:off x="4389120" y="1097280"/>
            <a:ext cx="3657600" cy="2103120"/>
          </a:xfrm>
          <a:prstGeom prst="rect">
            <a:avLst/>
          </a:prstGeom>
          <a:solidFill>
            <a:srgbClr val="1E293B"/>
          </a:solidFill>
          <a:ln w="25400">
            <a:solidFill>
              <a:srgbClr val="3B82F6"/>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874519"/>
            <a:ext cx="3383280" cy="548640"/>
          </a:xfrm>
          <a:prstGeom prst="rect">
            <a:avLst/>
          </a:prstGeom>
          <a:noFill/>
        </p:spPr>
        <p:txBody>
          <a:bodyPr wrap="square">
            <a:spAutoFit/>
          </a:bodyPr>
          <a:lstStyle/>
          <a:p>
            <a:pPr algn="ctr">
              <a:defRPr sz="1100" b="1">
                <a:solidFill>
                  <a:srgbClr val="3B82F6"/>
                </a:solidFill>
              </a:defRPr>
            </a:pPr>
            <a:r>
              <a:t>Grade Upload</a:t>
            </a:r>
          </a:p>
        </p:txBody>
      </p:sp>
      <p:sp>
        <p:nvSpPr>
          <p:cNvPr id="10" name="TextBox 9"/>
          <p:cNvSpPr txBox="1"/>
          <p:nvPr/>
        </p:nvSpPr>
        <p:spPr>
          <a:xfrm>
            <a:off x="4526280" y="2514600"/>
            <a:ext cx="3383280" cy="548640"/>
          </a:xfrm>
          <a:prstGeom prst="rect">
            <a:avLst/>
          </a:prstGeom>
          <a:noFill/>
        </p:spPr>
        <p:txBody>
          <a:bodyPr wrap="square">
            <a:spAutoFit/>
          </a:bodyPr>
          <a:lstStyle/>
          <a:p>
            <a:pPr algn="ctr">
              <a:defRPr sz="900">
                <a:solidFill>
                  <a:srgbClr val="94A3B8"/>
                </a:solidFill>
              </a:defRPr>
            </a:pPr>
            <a:r>
              <a:t>Gemini Vision Extraction</a:t>
            </a:r>
          </a:p>
        </p:txBody>
      </p:sp>
      <p:sp>
        <p:nvSpPr>
          <p:cNvPr id="11" name="Rectangle 10"/>
          <p:cNvSpPr/>
          <p:nvPr/>
        </p:nvSpPr>
        <p:spPr>
          <a:xfrm>
            <a:off x="8321040" y="1097280"/>
            <a:ext cx="3657600" cy="2103120"/>
          </a:xfrm>
          <a:prstGeom prst="rect">
            <a:avLst/>
          </a:prstGeom>
          <a:solidFill>
            <a:srgbClr val="1E293B"/>
          </a:solidFill>
          <a:ln w="25400">
            <a:solidFill>
              <a:srgbClr val="3B82F6"/>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58200" y="1874519"/>
            <a:ext cx="3383280" cy="548640"/>
          </a:xfrm>
          <a:prstGeom prst="rect">
            <a:avLst/>
          </a:prstGeom>
          <a:noFill/>
        </p:spPr>
        <p:txBody>
          <a:bodyPr wrap="square">
            <a:spAutoFit/>
          </a:bodyPr>
          <a:lstStyle/>
          <a:p>
            <a:pPr algn="ctr">
              <a:defRPr sz="1100" b="1">
                <a:solidFill>
                  <a:srgbClr val="3B82F6"/>
                </a:solidFill>
              </a:defRPr>
            </a:pPr>
            <a:r>
              <a:t>Risk Score Page</a:t>
            </a:r>
          </a:p>
        </p:txBody>
      </p:sp>
      <p:sp>
        <p:nvSpPr>
          <p:cNvPr id="13" name="TextBox 12"/>
          <p:cNvSpPr txBox="1"/>
          <p:nvPr/>
        </p:nvSpPr>
        <p:spPr>
          <a:xfrm>
            <a:off x="8458200" y="2514600"/>
            <a:ext cx="3383280" cy="548640"/>
          </a:xfrm>
          <a:prstGeom prst="rect">
            <a:avLst/>
          </a:prstGeom>
          <a:noFill/>
        </p:spPr>
        <p:txBody>
          <a:bodyPr wrap="square">
            <a:spAutoFit/>
          </a:bodyPr>
          <a:lstStyle/>
          <a:p>
            <a:pPr algn="ctr">
              <a:defRPr sz="900">
                <a:solidFill>
                  <a:srgbClr val="94A3B8"/>
                </a:solidFill>
              </a:defRPr>
            </a:pPr>
            <a:r>
              <a:t>Factor breakdown card</a:t>
            </a:r>
          </a:p>
        </p:txBody>
      </p:sp>
      <p:sp>
        <p:nvSpPr>
          <p:cNvPr id="14" name="Rectangle 13"/>
          <p:cNvSpPr/>
          <p:nvPr/>
        </p:nvSpPr>
        <p:spPr>
          <a:xfrm>
            <a:off x="457200" y="3474720"/>
            <a:ext cx="3657600" cy="2103120"/>
          </a:xfrm>
          <a:prstGeom prst="rect">
            <a:avLst/>
          </a:prstGeom>
          <a:solidFill>
            <a:srgbClr val="1E293B"/>
          </a:solidFill>
          <a:ln w="25400">
            <a:solidFill>
              <a:srgbClr val="3B82F6"/>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251959"/>
            <a:ext cx="3383280" cy="548640"/>
          </a:xfrm>
          <a:prstGeom prst="rect">
            <a:avLst/>
          </a:prstGeom>
          <a:noFill/>
        </p:spPr>
        <p:txBody>
          <a:bodyPr wrap="square">
            <a:spAutoFit/>
          </a:bodyPr>
          <a:lstStyle/>
          <a:p>
            <a:pPr algn="ctr">
              <a:defRPr sz="1100" b="1">
                <a:solidFill>
                  <a:srgbClr val="3B82F6"/>
                </a:solidFill>
              </a:defRPr>
            </a:pPr>
            <a:r>
              <a:t>SGPA Bar Chart</a:t>
            </a:r>
          </a:p>
        </p:txBody>
      </p:sp>
      <p:sp>
        <p:nvSpPr>
          <p:cNvPr id="16" name="TextBox 15"/>
          <p:cNvSpPr txBox="1"/>
          <p:nvPr/>
        </p:nvSpPr>
        <p:spPr>
          <a:xfrm>
            <a:off x="594360" y="4892040"/>
            <a:ext cx="3383280" cy="548640"/>
          </a:xfrm>
          <a:prstGeom prst="rect">
            <a:avLst/>
          </a:prstGeom>
          <a:noFill/>
        </p:spPr>
        <p:txBody>
          <a:bodyPr wrap="square">
            <a:spAutoFit/>
          </a:bodyPr>
          <a:lstStyle/>
          <a:p>
            <a:pPr algn="ctr">
              <a:defRPr sz="900">
                <a:solidFill>
                  <a:srgbClr val="94A3B8"/>
                </a:solidFill>
              </a:defRPr>
            </a:pPr>
            <a:r>
              <a:t>8-semester trend</a:t>
            </a:r>
          </a:p>
        </p:txBody>
      </p:sp>
      <p:sp>
        <p:nvSpPr>
          <p:cNvPr id="17" name="Rectangle 16"/>
          <p:cNvSpPr/>
          <p:nvPr/>
        </p:nvSpPr>
        <p:spPr>
          <a:xfrm>
            <a:off x="4389120" y="3474720"/>
            <a:ext cx="3657600" cy="2103120"/>
          </a:xfrm>
          <a:prstGeom prst="rect">
            <a:avLst/>
          </a:prstGeom>
          <a:solidFill>
            <a:srgbClr val="1E293B"/>
          </a:solidFill>
          <a:ln w="25400">
            <a:solidFill>
              <a:srgbClr val="3B82F6"/>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26280" y="4251959"/>
            <a:ext cx="3383280" cy="548640"/>
          </a:xfrm>
          <a:prstGeom prst="rect">
            <a:avLst/>
          </a:prstGeom>
          <a:noFill/>
        </p:spPr>
        <p:txBody>
          <a:bodyPr wrap="square">
            <a:spAutoFit/>
          </a:bodyPr>
          <a:lstStyle/>
          <a:p>
            <a:pPr algn="ctr">
              <a:defRPr sz="1100" b="1">
                <a:solidFill>
                  <a:srgbClr val="3B82F6"/>
                </a:solidFill>
              </a:defRPr>
            </a:pPr>
            <a:r>
              <a:t>Teacher Risk Monitor</a:t>
            </a:r>
          </a:p>
        </p:txBody>
      </p:sp>
      <p:sp>
        <p:nvSpPr>
          <p:cNvPr id="19" name="TextBox 18"/>
          <p:cNvSpPr txBox="1"/>
          <p:nvPr/>
        </p:nvSpPr>
        <p:spPr>
          <a:xfrm>
            <a:off x="4526280" y="4892040"/>
            <a:ext cx="3383280" cy="548640"/>
          </a:xfrm>
          <a:prstGeom prst="rect">
            <a:avLst/>
          </a:prstGeom>
          <a:noFill/>
        </p:spPr>
        <p:txBody>
          <a:bodyPr wrap="square">
            <a:spAutoFit/>
          </a:bodyPr>
          <a:lstStyle/>
          <a:p>
            <a:pPr algn="ctr">
              <a:defRPr sz="900">
                <a:solidFill>
                  <a:srgbClr val="94A3B8"/>
                </a:solidFill>
              </a:defRPr>
            </a:pPr>
            <a:r>
              <a:t>Class-wide ranking</a:t>
            </a:r>
          </a:p>
        </p:txBody>
      </p:sp>
      <p:sp>
        <p:nvSpPr>
          <p:cNvPr id="20" name="Rectangle 19"/>
          <p:cNvSpPr/>
          <p:nvPr/>
        </p:nvSpPr>
        <p:spPr>
          <a:xfrm>
            <a:off x="8321040" y="3474720"/>
            <a:ext cx="3657600" cy="2103120"/>
          </a:xfrm>
          <a:prstGeom prst="rect">
            <a:avLst/>
          </a:prstGeom>
          <a:solidFill>
            <a:srgbClr val="1E293B"/>
          </a:solidFill>
          <a:ln w="25400">
            <a:solidFill>
              <a:srgbClr val="3B82F6"/>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4251959"/>
            <a:ext cx="3383280" cy="548640"/>
          </a:xfrm>
          <a:prstGeom prst="rect">
            <a:avLst/>
          </a:prstGeom>
          <a:noFill/>
        </p:spPr>
        <p:txBody>
          <a:bodyPr wrap="square">
            <a:spAutoFit/>
          </a:bodyPr>
          <a:lstStyle/>
          <a:p>
            <a:pPr algn="ctr">
              <a:defRPr sz="1100" b="1">
                <a:solidFill>
                  <a:srgbClr val="3B82F6"/>
                </a:solidFill>
              </a:defRPr>
            </a:pPr>
            <a:r>
              <a:t>Advisory Chat</a:t>
            </a:r>
          </a:p>
        </p:txBody>
      </p:sp>
      <p:sp>
        <p:nvSpPr>
          <p:cNvPr id="22" name="TextBox 21"/>
          <p:cNvSpPr txBox="1"/>
          <p:nvPr/>
        </p:nvSpPr>
        <p:spPr>
          <a:xfrm>
            <a:off x="8458200" y="4892040"/>
            <a:ext cx="3383280" cy="548640"/>
          </a:xfrm>
          <a:prstGeom prst="rect">
            <a:avLst/>
          </a:prstGeom>
          <a:noFill/>
        </p:spPr>
        <p:txBody>
          <a:bodyPr wrap="square">
            <a:spAutoFit/>
          </a:bodyPr>
          <a:lstStyle/>
          <a:p>
            <a:pPr algn="ctr">
              <a:defRPr sz="900">
                <a:solidFill>
                  <a:srgbClr val="94A3B8"/>
                </a:solidFill>
              </a:defRPr>
            </a:pPr>
            <a:r>
              <a:t>With source citations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3657600" cy="457200"/>
          </a:xfrm>
          <a:prstGeom prst="rect">
            <a:avLst/>
          </a:prstGeom>
          <a:noFill/>
        </p:spPr>
        <p:txBody>
          <a:bodyPr wrap="none">
            <a:spAutoFit/>
          </a:bodyPr>
          <a:lstStyle/>
          <a:p>
            <a:pPr>
              <a:defRPr sz="1600" b="1">
                <a:solidFill>
                  <a:srgbClr val="3B82F6"/>
                </a:solidFill>
              </a:defRPr>
            </a:pPr>
            <a:r>
              <a:t>14 — Performance Evaluation</a:t>
            </a:r>
          </a:p>
        </p:txBody>
      </p:sp>
      <p:sp>
        <p:nvSpPr>
          <p:cNvPr id="3" name="TextBox 2"/>
          <p:cNvSpPr txBox="1"/>
          <p:nvPr/>
        </p:nvSpPr>
        <p:spPr>
          <a:xfrm>
            <a:off x="274320" y="6446520"/>
            <a:ext cx="2743200" cy="365760"/>
          </a:xfrm>
          <a:prstGeom prst="rect">
            <a:avLst/>
          </a:prstGeom>
          <a:noFill/>
        </p:spPr>
        <p:txBody>
          <a:bodyPr wrap="none">
            <a:spAutoFit/>
          </a:bodyPr>
          <a:lstStyle/>
          <a:p>
            <a:pPr>
              <a:defRPr sz="1000">
                <a:solidFill>
                  <a:srgbClr val="94A3B8"/>
                </a:solidFill>
              </a:defRPr>
            </a:pPr>
            <a:r>
              <a:t>SARS | SNIST 2024-25</a:t>
            </a:r>
          </a:p>
        </p:txBody>
      </p:sp>
      <p:sp>
        <p:nvSpPr>
          <p:cNvPr id="4" name="TextBox 3"/>
          <p:cNvSpPr txBox="1"/>
          <p:nvPr/>
        </p:nvSpPr>
        <p:spPr>
          <a:xfrm>
            <a:off x="10515600" y="6446520"/>
            <a:ext cx="1371600" cy="365760"/>
          </a:xfrm>
          <a:prstGeom prst="rect">
            <a:avLst/>
          </a:prstGeom>
          <a:noFill/>
        </p:spPr>
        <p:txBody>
          <a:bodyPr wrap="none">
            <a:spAutoFit/>
          </a:bodyPr>
          <a:lstStyle/>
          <a:p>
            <a:pPr algn="r">
              <a:defRPr sz="1000">
                <a:solidFill>
                  <a:srgbClr val="94A3B8"/>
                </a:solidFill>
              </a:defRPr>
            </a:pPr>
            <a:r>
              <a:t>Slide 16 / 19</a:t>
            </a:r>
          </a:p>
        </p:txBody>
      </p:sp>
      <p:sp>
        <p:nvSpPr>
          <p:cNvPr id="5" name="Rectangle 4"/>
          <p:cNvSpPr/>
          <p:nvPr/>
        </p:nvSpPr>
        <p:spPr>
          <a:xfrm>
            <a:off x="731520" y="914400"/>
            <a:ext cx="2651760" cy="1097280"/>
          </a:xfrm>
          <a:prstGeom prst="rect">
            <a:avLst/>
          </a:prstGeom>
          <a:solidFill>
            <a:srgbClr val="1E293B"/>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960120"/>
            <a:ext cx="2468880" cy="365760"/>
          </a:xfrm>
          <a:prstGeom prst="rect">
            <a:avLst/>
          </a:prstGeom>
          <a:noFill/>
        </p:spPr>
        <p:txBody>
          <a:bodyPr wrap="none">
            <a:spAutoFit/>
          </a:bodyPr>
          <a:lstStyle/>
          <a:p>
            <a:pPr algn="ctr">
              <a:defRPr sz="2400" b="1">
                <a:solidFill>
                  <a:srgbClr val="22C55E"/>
                </a:solidFill>
              </a:defRPr>
            </a:pPr>
            <a:r>
              <a:t>100%</a:t>
            </a:r>
          </a:p>
        </p:txBody>
      </p:sp>
      <p:sp>
        <p:nvSpPr>
          <p:cNvPr id="7" name="TextBox 6"/>
          <p:cNvSpPr txBox="1"/>
          <p:nvPr/>
        </p:nvSpPr>
        <p:spPr>
          <a:xfrm>
            <a:off x="822960" y="1325880"/>
            <a:ext cx="2468880" cy="640080"/>
          </a:xfrm>
          <a:prstGeom prst="rect">
            <a:avLst/>
          </a:prstGeom>
          <a:noFill/>
        </p:spPr>
        <p:txBody>
          <a:bodyPr wrap="square">
            <a:spAutoFit/>
          </a:bodyPr>
          <a:lstStyle/>
          <a:p>
            <a:pPr algn="ctr">
              <a:defRPr sz="1000" b="1">
                <a:solidFill>
                  <a:srgbClr val="F1F5F9"/>
                </a:solidFill>
              </a:defRPr>
            </a:pPr>
            <a:r>
              <a:t>Grade Extraction</a:t>
            </a:r>
          </a:p>
          <a:p>
            <a:r>
              <a:t>Accuracy</a:t>
            </a:r>
          </a:p>
        </p:txBody>
      </p:sp>
      <p:sp>
        <p:nvSpPr>
          <p:cNvPr id="8" name="Rectangle 7"/>
          <p:cNvSpPr/>
          <p:nvPr/>
        </p:nvSpPr>
        <p:spPr>
          <a:xfrm>
            <a:off x="3566160" y="914400"/>
            <a:ext cx="2651760" cy="1097280"/>
          </a:xfrm>
          <a:prstGeom prst="rect">
            <a:avLst/>
          </a:prstGeom>
          <a:solidFill>
            <a:srgbClr val="1E293B"/>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960120"/>
            <a:ext cx="2468880" cy="365760"/>
          </a:xfrm>
          <a:prstGeom prst="rect">
            <a:avLst/>
          </a:prstGeom>
          <a:noFill/>
        </p:spPr>
        <p:txBody>
          <a:bodyPr wrap="none">
            <a:spAutoFit/>
          </a:bodyPr>
          <a:lstStyle/>
          <a:p>
            <a:pPr algn="ctr">
              <a:defRPr sz="2400" b="1">
                <a:solidFill>
                  <a:srgbClr val="22C55E"/>
                </a:solidFill>
              </a:defRPr>
            </a:pPr>
            <a:r>
              <a:t>100%</a:t>
            </a:r>
          </a:p>
        </p:txBody>
      </p:sp>
      <p:sp>
        <p:nvSpPr>
          <p:cNvPr id="10" name="TextBox 9"/>
          <p:cNvSpPr txBox="1"/>
          <p:nvPr/>
        </p:nvSpPr>
        <p:spPr>
          <a:xfrm>
            <a:off x="3657600" y="1325880"/>
            <a:ext cx="2468880" cy="640080"/>
          </a:xfrm>
          <a:prstGeom prst="rect">
            <a:avLst/>
          </a:prstGeom>
          <a:noFill/>
        </p:spPr>
        <p:txBody>
          <a:bodyPr wrap="square">
            <a:spAutoFit/>
          </a:bodyPr>
          <a:lstStyle/>
          <a:p>
            <a:pPr algn="ctr">
              <a:defRPr sz="1000" b="1">
                <a:solidFill>
                  <a:srgbClr val="F1F5F9"/>
                </a:solidFill>
              </a:defRPr>
            </a:pPr>
            <a:r>
              <a:t>RAG Retrieval</a:t>
            </a:r>
          </a:p>
          <a:p>
            <a:r>
              <a:t>Accuracy</a:t>
            </a:r>
          </a:p>
        </p:txBody>
      </p:sp>
      <p:sp>
        <p:nvSpPr>
          <p:cNvPr id="11" name="Rectangle 10"/>
          <p:cNvSpPr/>
          <p:nvPr/>
        </p:nvSpPr>
        <p:spPr>
          <a:xfrm>
            <a:off x="6400800" y="914400"/>
            <a:ext cx="2651760" cy="109728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960120"/>
            <a:ext cx="2468880" cy="365760"/>
          </a:xfrm>
          <a:prstGeom prst="rect">
            <a:avLst/>
          </a:prstGeom>
          <a:noFill/>
        </p:spPr>
        <p:txBody>
          <a:bodyPr wrap="none">
            <a:spAutoFit/>
          </a:bodyPr>
          <a:lstStyle/>
          <a:p>
            <a:pPr algn="ctr">
              <a:defRPr sz="2400" b="1">
                <a:solidFill>
                  <a:srgbClr val="3B82F6"/>
                </a:solidFill>
              </a:defRPr>
            </a:pPr>
            <a:r>
              <a:t>73%</a:t>
            </a:r>
          </a:p>
        </p:txBody>
      </p:sp>
      <p:sp>
        <p:nvSpPr>
          <p:cNvPr id="13" name="TextBox 12"/>
          <p:cNvSpPr txBox="1"/>
          <p:nvPr/>
        </p:nvSpPr>
        <p:spPr>
          <a:xfrm>
            <a:off x="6492240" y="1325880"/>
            <a:ext cx="2468880" cy="640080"/>
          </a:xfrm>
          <a:prstGeom prst="rect">
            <a:avLst/>
          </a:prstGeom>
          <a:noFill/>
        </p:spPr>
        <p:txBody>
          <a:bodyPr wrap="square">
            <a:spAutoFit/>
          </a:bodyPr>
          <a:lstStyle/>
          <a:p>
            <a:pPr algn="ctr">
              <a:defRPr sz="1000" b="1">
                <a:solidFill>
                  <a:srgbClr val="F1F5F9"/>
                </a:solidFill>
              </a:defRPr>
            </a:pPr>
            <a:r>
              <a:t>Token Reduction</a:t>
            </a:r>
          </a:p>
          <a:p>
            <a:r>
              <a:t>vs Baseline</a:t>
            </a:r>
          </a:p>
        </p:txBody>
      </p:sp>
      <p:sp>
        <p:nvSpPr>
          <p:cNvPr id="14" name="Rectangle 13"/>
          <p:cNvSpPr/>
          <p:nvPr/>
        </p:nvSpPr>
        <p:spPr>
          <a:xfrm>
            <a:off x="9235440" y="914400"/>
            <a:ext cx="2651760" cy="1097280"/>
          </a:xfrm>
          <a:prstGeom prst="rect">
            <a:avLst/>
          </a:prstGeom>
          <a:solidFill>
            <a:srgbClr val="1E293B"/>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0" y="960120"/>
            <a:ext cx="2468880" cy="365760"/>
          </a:xfrm>
          <a:prstGeom prst="rect">
            <a:avLst/>
          </a:prstGeom>
          <a:noFill/>
        </p:spPr>
        <p:txBody>
          <a:bodyPr wrap="none">
            <a:spAutoFit/>
          </a:bodyPr>
          <a:lstStyle/>
          <a:p>
            <a:pPr algn="ctr">
              <a:defRPr sz="2400" b="1">
                <a:solidFill>
                  <a:srgbClr val="06B6D4"/>
                </a:solidFill>
              </a:defRPr>
            </a:pPr>
            <a:r>
              <a:t>8.55</a:t>
            </a:r>
          </a:p>
        </p:txBody>
      </p:sp>
      <p:sp>
        <p:nvSpPr>
          <p:cNvPr id="16" name="TextBox 15"/>
          <p:cNvSpPr txBox="1"/>
          <p:nvPr/>
        </p:nvSpPr>
        <p:spPr>
          <a:xfrm>
            <a:off x="9326880" y="1325880"/>
            <a:ext cx="2468880" cy="640080"/>
          </a:xfrm>
          <a:prstGeom prst="rect">
            <a:avLst/>
          </a:prstGeom>
          <a:noFill/>
        </p:spPr>
        <p:txBody>
          <a:bodyPr wrap="square">
            <a:spAutoFit/>
          </a:bodyPr>
          <a:lstStyle/>
          <a:p>
            <a:pPr algn="ctr">
              <a:defRPr sz="1000" b="1">
                <a:solidFill>
                  <a:srgbClr val="F1F5F9"/>
                </a:solidFill>
              </a:defRPr>
            </a:pPr>
            <a:r>
              <a:t>Correct CGPA</a:t>
            </a:r>
          </a:p>
          <a:p>
            <a:r>
              <a:t>Match</a:t>
            </a:r>
          </a:p>
        </p:txBody>
      </p:sp>
      <p:sp>
        <p:nvSpPr>
          <p:cNvPr id="17" name="TextBox 16"/>
          <p:cNvSpPr txBox="1"/>
          <p:nvPr/>
        </p:nvSpPr>
        <p:spPr>
          <a:xfrm>
            <a:off x="457200" y="2286000"/>
            <a:ext cx="11277295" cy="274320"/>
          </a:xfrm>
          <a:prstGeom prst="rect">
            <a:avLst/>
          </a:prstGeom>
          <a:noFill/>
        </p:spPr>
        <p:txBody>
          <a:bodyPr wrap="none">
            <a:spAutoFit/>
          </a:bodyPr>
          <a:lstStyle/>
          <a:p>
            <a:pPr>
              <a:defRPr sz="1200" b="1">
                <a:solidFill>
                  <a:srgbClr val="3B82F6"/>
                </a:solidFill>
              </a:defRPr>
            </a:pPr>
            <a:r>
              <a:t>Grade Extraction Validation</a:t>
            </a:r>
          </a:p>
        </p:txBody>
      </p:sp>
      <p:sp>
        <p:nvSpPr>
          <p:cNvPr id="18" name="TextBox 17"/>
          <p:cNvSpPr txBox="1"/>
          <p:nvPr/>
        </p:nvSpPr>
        <p:spPr>
          <a:xfrm>
            <a:off x="457200" y="2606040"/>
            <a:ext cx="2103120" cy="228600"/>
          </a:xfrm>
          <a:prstGeom prst="rect">
            <a:avLst/>
          </a:prstGeom>
          <a:noFill/>
        </p:spPr>
        <p:txBody>
          <a:bodyPr wrap="none">
            <a:spAutoFit/>
          </a:bodyPr>
          <a:lstStyle/>
          <a:p>
            <a:pPr>
              <a:defRPr sz="1000" b="1">
                <a:solidFill>
                  <a:srgbClr val="3B82F6"/>
                </a:solidFill>
              </a:defRPr>
            </a:pPr>
            <a:r>
              <a:t>Student</a:t>
            </a:r>
          </a:p>
        </p:txBody>
      </p:sp>
      <p:sp>
        <p:nvSpPr>
          <p:cNvPr id="19" name="TextBox 18"/>
          <p:cNvSpPr txBox="1"/>
          <p:nvPr/>
        </p:nvSpPr>
        <p:spPr>
          <a:xfrm>
            <a:off x="2651760" y="2606040"/>
            <a:ext cx="2103120" cy="228600"/>
          </a:xfrm>
          <a:prstGeom prst="rect">
            <a:avLst/>
          </a:prstGeom>
          <a:noFill/>
        </p:spPr>
        <p:txBody>
          <a:bodyPr wrap="none">
            <a:spAutoFit/>
          </a:bodyPr>
          <a:lstStyle/>
          <a:p>
            <a:pPr>
              <a:defRPr sz="1000" b="1">
                <a:solidFill>
                  <a:srgbClr val="3B82F6"/>
                </a:solidFill>
              </a:defRPr>
            </a:pPr>
            <a:r>
              <a:t>Semesters</a:t>
            </a:r>
          </a:p>
        </p:txBody>
      </p:sp>
      <p:sp>
        <p:nvSpPr>
          <p:cNvPr id="20" name="TextBox 19"/>
          <p:cNvSpPr txBox="1"/>
          <p:nvPr/>
        </p:nvSpPr>
        <p:spPr>
          <a:xfrm>
            <a:off x="4846320" y="2606040"/>
            <a:ext cx="2103120" cy="228600"/>
          </a:xfrm>
          <a:prstGeom prst="rect">
            <a:avLst/>
          </a:prstGeom>
          <a:noFill/>
        </p:spPr>
        <p:txBody>
          <a:bodyPr wrap="none">
            <a:spAutoFit/>
          </a:bodyPr>
          <a:lstStyle/>
          <a:p>
            <a:pPr>
              <a:defRPr sz="1000" b="1">
                <a:solidFill>
                  <a:srgbClr val="3B82F6"/>
                </a:solidFill>
              </a:defRPr>
            </a:pPr>
            <a:r>
              <a:t>Subjects</a:t>
            </a:r>
          </a:p>
        </p:txBody>
      </p:sp>
      <p:sp>
        <p:nvSpPr>
          <p:cNvPr id="21" name="TextBox 20"/>
          <p:cNvSpPr txBox="1"/>
          <p:nvPr/>
        </p:nvSpPr>
        <p:spPr>
          <a:xfrm>
            <a:off x="7040879" y="2606040"/>
            <a:ext cx="2103120" cy="228600"/>
          </a:xfrm>
          <a:prstGeom prst="rect">
            <a:avLst/>
          </a:prstGeom>
          <a:noFill/>
        </p:spPr>
        <p:txBody>
          <a:bodyPr wrap="none">
            <a:spAutoFit/>
          </a:bodyPr>
          <a:lstStyle/>
          <a:p>
            <a:pPr>
              <a:defRPr sz="1000" b="1">
                <a:solidFill>
                  <a:srgbClr val="3B82F6"/>
                </a:solidFill>
              </a:defRPr>
            </a:pPr>
            <a:r>
              <a:t>Extracted</a:t>
            </a:r>
          </a:p>
        </p:txBody>
      </p:sp>
      <p:sp>
        <p:nvSpPr>
          <p:cNvPr id="22" name="TextBox 21"/>
          <p:cNvSpPr txBox="1"/>
          <p:nvPr/>
        </p:nvSpPr>
        <p:spPr>
          <a:xfrm>
            <a:off x="9235440" y="2606040"/>
            <a:ext cx="2103120" cy="228600"/>
          </a:xfrm>
          <a:prstGeom prst="rect">
            <a:avLst/>
          </a:prstGeom>
          <a:noFill/>
        </p:spPr>
        <p:txBody>
          <a:bodyPr wrap="none">
            <a:spAutoFit/>
          </a:bodyPr>
          <a:lstStyle/>
          <a:p>
            <a:pPr>
              <a:defRPr sz="1000" b="1">
                <a:solidFill>
                  <a:srgbClr val="3B82F6"/>
                </a:solidFill>
              </a:defRPr>
            </a:pPr>
            <a:r>
              <a:t>Accuracy</a:t>
            </a:r>
          </a:p>
        </p:txBody>
      </p:sp>
      <p:sp>
        <p:nvSpPr>
          <p:cNvPr id="23" name="TextBox 22"/>
          <p:cNvSpPr txBox="1"/>
          <p:nvPr/>
        </p:nvSpPr>
        <p:spPr>
          <a:xfrm>
            <a:off x="457200" y="2880360"/>
            <a:ext cx="2103120" cy="228600"/>
          </a:xfrm>
          <a:prstGeom prst="rect">
            <a:avLst/>
          </a:prstGeom>
          <a:noFill/>
        </p:spPr>
        <p:txBody>
          <a:bodyPr wrap="none">
            <a:spAutoFit/>
          </a:bodyPr>
          <a:lstStyle/>
          <a:p>
            <a:pPr>
              <a:defRPr sz="900">
                <a:solidFill>
                  <a:srgbClr val="F1F5F9"/>
                </a:solidFill>
              </a:defRPr>
            </a:pPr>
            <a:r>
              <a:t>Student A</a:t>
            </a:r>
          </a:p>
        </p:txBody>
      </p:sp>
      <p:sp>
        <p:nvSpPr>
          <p:cNvPr id="24" name="TextBox 23"/>
          <p:cNvSpPr txBox="1"/>
          <p:nvPr/>
        </p:nvSpPr>
        <p:spPr>
          <a:xfrm>
            <a:off x="2651760" y="2880360"/>
            <a:ext cx="2103120" cy="228600"/>
          </a:xfrm>
          <a:prstGeom prst="rect">
            <a:avLst/>
          </a:prstGeom>
          <a:noFill/>
        </p:spPr>
        <p:txBody>
          <a:bodyPr wrap="none">
            <a:spAutoFit/>
          </a:bodyPr>
          <a:lstStyle/>
          <a:p>
            <a:pPr>
              <a:defRPr sz="900">
                <a:solidFill>
                  <a:srgbClr val="F1F5F9"/>
                </a:solidFill>
              </a:defRPr>
            </a:pPr>
            <a:r>
              <a:t>5</a:t>
            </a:r>
          </a:p>
        </p:txBody>
      </p:sp>
      <p:sp>
        <p:nvSpPr>
          <p:cNvPr id="25" name="TextBox 24"/>
          <p:cNvSpPr txBox="1"/>
          <p:nvPr/>
        </p:nvSpPr>
        <p:spPr>
          <a:xfrm>
            <a:off x="4846320" y="2880360"/>
            <a:ext cx="2103120" cy="228600"/>
          </a:xfrm>
          <a:prstGeom prst="rect">
            <a:avLst/>
          </a:prstGeom>
          <a:noFill/>
        </p:spPr>
        <p:txBody>
          <a:bodyPr wrap="none">
            <a:spAutoFit/>
          </a:bodyPr>
          <a:lstStyle/>
          <a:p>
            <a:pPr>
              <a:defRPr sz="900">
                <a:solidFill>
                  <a:srgbClr val="F1F5F9"/>
                </a:solidFill>
              </a:defRPr>
            </a:pPr>
            <a:r>
              <a:t>47</a:t>
            </a:r>
          </a:p>
        </p:txBody>
      </p:sp>
      <p:sp>
        <p:nvSpPr>
          <p:cNvPr id="26" name="TextBox 25"/>
          <p:cNvSpPr txBox="1"/>
          <p:nvPr/>
        </p:nvSpPr>
        <p:spPr>
          <a:xfrm>
            <a:off x="7040879" y="2880360"/>
            <a:ext cx="2103120" cy="228600"/>
          </a:xfrm>
          <a:prstGeom prst="rect">
            <a:avLst/>
          </a:prstGeom>
          <a:noFill/>
        </p:spPr>
        <p:txBody>
          <a:bodyPr wrap="none">
            <a:spAutoFit/>
          </a:bodyPr>
          <a:lstStyle/>
          <a:p>
            <a:pPr>
              <a:defRPr sz="900">
                <a:solidFill>
                  <a:srgbClr val="F1F5F9"/>
                </a:solidFill>
              </a:defRPr>
            </a:pPr>
            <a:r>
              <a:t>47</a:t>
            </a:r>
          </a:p>
        </p:txBody>
      </p:sp>
      <p:sp>
        <p:nvSpPr>
          <p:cNvPr id="27" name="TextBox 26"/>
          <p:cNvSpPr txBox="1"/>
          <p:nvPr/>
        </p:nvSpPr>
        <p:spPr>
          <a:xfrm>
            <a:off x="9235440" y="2880360"/>
            <a:ext cx="2103120" cy="228600"/>
          </a:xfrm>
          <a:prstGeom prst="rect">
            <a:avLst/>
          </a:prstGeom>
          <a:noFill/>
        </p:spPr>
        <p:txBody>
          <a:bodyPr wrap="none">
            <a:spAutoFit/>
          </a:bodyPr>
          <a:lstStyle/>
          <a:p>
            <a:pPr>
              <a:defRPr sz="900">
                <a:solidFill>
                  <a:srgbClr val="F1F5F9"/>
                </a:solidFill>
              </a:defRPr>
            </a:pPr>
            <a:r>
              <a:t>100%</a:t>
            </a:r>
          </a:p>
        </p:txBody>
      </p:sp>
      <p:sp>
        <p:nvSpPr>
          <p:cNvPr id="28" name="TextBox 27"/>
          <p:cNvSpPr txBox="1"/>
          <p:nvPr/>
        </p:nvSpPr>
        <p:spPr>
          <a:xfrm>
            <a:off x="457200" y="3154679"/>
            <a:ext cx="2103120" cy="228600"/>
          </a:xfrm>
          <a:prstGeom prst="rect">
            <a:avLst/>
          </a:prstGeom>
          <a:noFill/>
        </p:spPr>
        <p:txBody>
          <a:bodyPr wrap="none">
            <a:spAutoFit/>
          </a:bodyPr>
          <a:lstStyle/>
          <a:p>
            <a:pPr>
              <a:defRPr sz="900">
                <a:solidFill>
                  <a:srgbClr val="F1F5F9"/>
                </a:solidFill>
              </a:defRPr>
            </a:pPr>
            <a:r>
              <a:t>Student B</a:t>
            </a:r>
          </a:p>
        </p:txBody>
      </p:sp>
      <p:sp>
        <p:nvSpPr>
          <p:cNvPr id="29" name="TextBox 28"/>
          <p:cNvSpPr txBox="1"/>
          <p:nvPr/>
        </p:nvSpPr>
        <p:spPr>
          <a:xfrm>
            <a:off x="2651760" y="3154679"/>
            <a:ext cx="2103120" cy="228600"/>
          </a:xfrm>
          <a:prstGeom prst="rect">
            <a:avLst/>
          </a:prstGeom>
          <a:noFill/>
        </p:spPr>
        <p:txBody>
          <a:bodyPr wrap="none">
            <a:spAutoFit/>
          </a:bodyPr>
          <a:lstStyle/>
          <a:p>
            <a:pPr>
              <a:defRPr sz="900">
                <a:solidFill>
                  <a:srgbClr val="F1F5F9"/>
                </a:solidFill>
              </a:defRPr>
            </a:pPr>
            <a:r>
              <a:t>2</a:t>
            </a:r>
          </a:p>
        </p:txBody>
      </p:sp>
      <p:sp>
        <p:nvSpPr>
          <p:cNvPr id="30" name="TextBox 29"/>
          <p:cNvSpPr txBox="1"/>
          <p:nvPr/>
        </p:nvSpPr>
        <p:spPr>
          <a:xfrm>
            <a:off x="4846320" y="3154679"/>
            <a:ext cx="2103120" cy="228600"/>
          </a:xfrm>
          <a:prstGeom prst="rect">
            <a:avLst/>
          </a:prstGeom>
          <a:noFill/>
        </p:spPr>
        <p:txBody>
          <a:bodyPr wrap="none">
            <a:spAutoFit/>
          </a:bodyPr>
          <a:lstStyle/>
          <a:p>
            <a:pPr>
              <a:defRPr sz="900">
                <a:solidFill>
                  <a:srgbClr val="F1F5F9"/>
                </a:solidFill>
              </a:defRPr>
            </a:pPr>
            <a:r>
              <a:t>19</a:t>
            </a:r>
          </a:p>
        </p:txBody>
      </p:sp>
      <p:sp>
        <p:nvSpPr>
          <p:cNvPr id="31" name="TextBox 30"/>
          <p:cNvSpPr txBox="1"/>
          <p:nvPr/>
        </p:nvSpPr>
        <p:spPr>
          <a:xfrm>
            <a:off x="7040879" y="3154679"/>
            <a:ext cx="2103120" cy="228600"/>
          </a:xfrm>
          <a:prstGeom prst="rect">
            <a:avLst/>
          </a:prstGeom>
          <a:noFill/>
        </p:spPr>
        <p:txBody>
          <a:bodyPr wrap="none">
            <a:spAutoFit/>
          </a:bodyPr>
          <a:lstStyle/>
          <a:p>
            <a:pPr>
              <a:defRPr sz="900">
                <a:solidFill>
                  <a:srgbClr val="F1F5F9"/>
                </a:solidFill>
              </a:defRPr>
            </a:pPr>
            <a:r>
              <a:t>19</a:t>
            </a:r>
          </a:p>
        </p:txBody>
      </p:sp>
      <p:sp>
        <p:nvSpPr>
          <p:cNvPr id="32" name="TextBox 31"/>
          <p:cNvSpPr txBox="1"/>
          <p:nvPr/>
        </p:nvSpPr>
        <p:spPr>
          <a:xfrm>
            <a:off x="9235440" y="3154679"/>
            <a:ext cx="2103120" cy="228600"/>
          </a:xfrm>
          <a:prstGeom prst="rect">
            <a:avLst/>
          </a:prstGeom>
          <a:noFill/>
        </p:spPr>
        <p:txBody>
          <a:bodyPr wrap="none">
            <a:spAutoFit/>
          </a:bodyPr>
          <a:lstStyle/>
          <a:p>
            <a:pPr>
              <a:defRPr sz="900">
                <a:solidFill>
                  <a:srgbClr val="F1F5F9"/>
                </a:solidFill>
              </a:defRPr>
            </a:pPr>
            <a:r>
              <a:t>100%</a:t>
            </a:r>
          </a:p>
        </p:txBody>
      </p:sp>
      <p:sp>
        <p:nvSpPr>
          <p:cNvPr id="33" name="TextBox 32"/>
          <p:cNvSpPr txBox="1"/>
          <p:nvPr/>
        </p:nvSpPr>
        <p:spPr>
          <a:xfrm>
            <a:off x="457200" y="3429000"/>
            <a:ext cx="2103120" cy="228600"/>
          </a:xfrm>
          <a:prstGeom prst="rect">
            <a:avLst/>
          </a:prstGeom>
          <a:noFill/>
        </p:spPr>
        <p:txBody>
          <a:bodyPr wrap="none">
            <a:spAutoFit/>
          </a:bodyPr>
          <a:lstStyle/>
          <a:p>
            <a:pPr>
              <a:defRPr sz="900">
                <a:solidFill>
                  <a:srgbClr val="F1F5F9"/>
                </a:solidFill>
              </a:defRPr>
            </a:pPr>
            <a:r>
              <a:t>Total</a:t>
            </a:r>
          </a:p>
        </p:txBody>
      </p:sp>
      <p:sp>
        <p:nvSpPr>
          <p:cNvPr id="34" name="TextBox 33"/>
          <p:cNvSpPr txBox="1"/>
          <p:nvPr/>
        </p:nvSpPr>
        <p:spPr>
          <a:xfrm>
            <a:off x="2651760" y="3429000"/>
            <a:ext cx="2103120" cy="228600"/>
          </a:xfrm>
          <a:prstGeom prst="rect">
            <a:avLst/>
          </a:prstGeom>
          <a:noFill/>
        </p:spPr>
        <p:txBody>
          <a:bodyPr wrap="none">
            <a:spAutoFit/>
          </a:bodyPr>
          <a:lstStyle/>
          <a:p>
            <a:pPr>
              <a:defRPr sz="900">
                <a:solidFill>
                  <a:srgbClr val="F1F5F9"/>
                </a:solidFill>
              </a:defRPr>
            </a:pPr>
            <a:r>
              <a:t>7</a:t>
            </a:r>
          </a:p>
        </p:txBody>
      </p:sp>
      <p:sp>
        <p:nvSpPr>
          <p:cNvPr id="35" name="TextBox 34"/>
          <p:cNvSpPr txBox="1"/>
          <p:nvPr/>
        </p:nvSpPr>
        <p:spPr>
          <a:xfrm>
            <a:off x="4846320" y="3429000"/>
            <a:ext cx="2103120" cy="228600"/>
          </a:xfrm>
          <a:prstGeom prst="rect">
            <a:avLst/>
          </a:prstGeom>
          <a:noFill/>
        </p:spPr>
        <p:txBody>
          <a:bodyPr wrap="none">
            <a:spAutoFit/>
          </a:bodyPr>
          <a:lstStyle/>
          <a:p>
            <a:pPr>
              <a:defRPr sz="900">
                <a:solidFill>
                  <a:srgbClr val="F1F5F9"/>
                </a:solidFill>
              </a:defRPr>
            </a:pPr>
            <a:r>
              <a:t>66</a:t>
            </a:r>
          </a:p>
        </p:txBody>
      </p:sp>
      <p:sp>
        <p:nvSpPr>
          <p:cNvPr id="36" name="TextBox 35"/>
          <p:cNvSpPr txBox="1"/>
          <p:nvPr/>
        </p:nvSpPr>
        <p:spPr>
          <a:xfrm>
            <a:off x="7040879" y="3429000"/>
            <a:ext cx="2103120" cy="228600"/>
          </a:xfrm>
          <a:prstGeom prst="rect">
            <a:avLst/>
          </a:prstGeom>
          <a:noFill/>
        </p:spPr>
        <p:txBody>
          <a:bodyPr wrap="none">
            <a:spAutoFit/>
          </a:bodyPr>
          <a:lstStyle/>
          <a:p>
            <a:pPr>
              <a:defRPr sz="900">
                <a:solidFill>
                  <a:srgbClr val="F1F5F9"/>
                </a:solidFill>
              </a:defRPr>
            </a:pPr>
            <a:r>
              <a:t>66</a:t>
            </a:r>
          </a:p>
        </p:txBody>
      </p:sp>
      <p:sp>
        <p:nvSpPr>
          <p:cNvPr id="37" name="TextBox 36"/>
          <p:cNvSpPr txBox="1"/>
          <p:nvPr/>
        </p:nvSpPr>
        <p:spPr>
          <a:xfrm>
            <a:off x="9235440" y="3429000"/>
            <a:ext cx="2103120" cy="228600"/>
          </a:xfrm>
          <a:prstGeom prst="rect">
            <a:avLst/>
          </a:prstGeom>
          <a:noFill/>
        </p:spPr>
        <p:txBody>
          <a:bodyPr wrap="none">
            <a:spAutoFit/>
          </a:bodyPr>
          <a:lstStyle/>
          <a:p>
            <a:pPr>
              <a:defRPr sz="900">
                <a:solidFill>
                  <a:srgbClr val="F1F5F9"/>
                </a:solidFill>
              </a:defRPr>
            </a:pPr>
            <a:r>
              <a:t>100%</a:t>
            </a:r>
          </a:p>
        </p:txBody>
      </p:sp>
      <p:sp>
        <p:nvSpPr>
          <p:cNvPr id="38" name="TextBox 37"/>
          <p:cNvSpPr txBox="1"/>
          <p:nvPr/>
        </p:nvSpPr>
        <p:spPr>
          <a:xfrm>
            <a:off x="457200" y="3749039"/>
            <a:ext cx="11277295" cy="274320"/>
          </a:xfrm>
          <a:prstGeom prst="rect">
            <a:avLst/>
          </a:prstGeom>
          <a:noFill/>
        </p:spPr>
        <p:txBody>
          <a:bodyPr wrap="none">
            <a:spAutoFit/>
          </a:bodyPr>
          <a:lstStyle/>
          <a:p>
            <a:pPr>
              <a:defRPr sz="1200" b="1">
                <a:solidFill>
                  <a:srgbClr val="06B6D4"/>
                </a:solidFill>
              </a:defRPr>
            </a:pPr>
            <a:r>
              <a:t>RAG Semantic Retrieval Accuracy</a:t>
            </a:r>
          </a:p>
        </p:txBody>
      </p:sp>
      <p:sp>
        <p:nvSpPr>
          <p:cNvPr id="39" name="TextBox 38"/>
          <p:cNvSpPr txBox="1"/>
          <p:nvPr/>
        </p:nvSpPr>
        <p:spPr>
          <a:xfrm>
            <a:off x="457200" y="4069080"/>
            <a:ext cx="2651760" cy="228600"/>
          </a:xfrm>
          <a:prstGeom prst="rect">
            <a:avLst/>
          </a:prstGeom>
          <a:noFill/>
        </p:spPr>
        <p:txBody>
          <a:bodyPr wrap="none">
            <a:spAutoFit/>
          </a:bodyPr>
          <a:lstStyle/>
          <a:p>
            <a:pPr>
              <a:defRPr sz="1000" b="1">
                <a:solidFill>
                  <a:srgbClr val="06B6D4"/>
                </a:solidFill>
              </a:defRPr>
            </a:pPr>
            <a:r>
              <a:t>Query Type</a:t>
            </a:r>
          </a:p>
        </p:txBody>
      </p:sp>
      <p:sp>
        <p:nvSpPr>
          <p:cNvPr id="40" name="TextBox 39"/>
          <p:cNvSpPr txBox="1"/>
          <p:nvPr/>
        </p:nvSpPr>
        <p:spPr>
          <a:xfrm>
            <a:off x="3200400" y="4069080"/>
            <a:ext cx="2651760" cy="228600"/>
          </a:xfrm>
          <a:prstGeom prst="rect">
            <a:avLst/>
          </a:prstGeom>
          <a:noFill/>
        </p:spPr>
        <p:txBody>
          <a:bodyPr wrap="none">
            <a:spAutoFit/>
          </a:bodyPr>
          <a:lstStyle/>
          <a:p>
            <a:pPr>
              <a:defRPr sz="1000" b="1">
                <a:solidFill>
                  <a:srgbClr val="06B6D4"/>
                </a:solidFill>
              </a:defRPr>
            </a:pPr>
            <a:r>
              <a:t>Expected Chunk</a:t>
            </a:r>
          </a:p>
        </p:txBody>
      </p:sp>
      <p:sp>
        <p:nvSpPr>
          <p:cNvPr id="41" name="TextBox 40"/>
          <p:cNvSpPr txBox="1"/>
          <p:nvPr/>
        </p:nvSpPr>
        <p:spPr>
          <a:xfrm>
            <a:off x="5943600" y="4069080"/>
            <a:ext cx="2651760" cy="228600"/>
          </a:xfrm>
          <a:prstGeom prst="rect">
            <a:avLst/>
          </a:prstGeom>
          <a:noFill/>
        </p:spPr>
        <p:txBody>
          <a:bodyPr wrap="none">
            <a:spAutoFit/>
          </a:bodyPr>
          <a:lstStyle/>
          <a:p>
            <a:pPr>
              <a:defRPr sz="1000" b="1">
                <a:solidFill>
                  <a:srgbClr val="06B6D4"/>
                </a:solidFill>
              </a:defRPr>
            </a:pPr>
            <a:r>
              <a:t>Retrieved</a:t>
            </a:r>
          </a:p>
        </p:txBody>
      </p:sp>
      <p:sp>
        <p:nvSpPr>
          <p:cNvPr id="42" name="TextBox 41"/>
          <p:cNvSpPr txBox="1"/>
          <p:nvPr/>
        </p:nvSpPr>
        <p:spPr>
          <a:xfrm>
            <a:off x="8686800" y="4069080"/>
            <a:ext cx="2651760" cy="228600"/>
          </a:xfrm>
          <a:prstGeom prst="rect">
            <a:avLst/>
          </a:prstGeom>
          <a:noFill/>
        </p:spPr>
        <p:txBody>
          <a:bodyPr wrap="none">
            <a:spAutoFit/>
          </a:bodyPr>
          <a:lstStyle/>
          <a:p>
            <a:pPr>
              <a:defRPr sz="1000" b="1">
                <a:solidFill>
                  <a:srgbClr val="06B6D4"/>
                </a:solidFill>
              </a:defRPr>
            </a:pPr>
            <a:r>
              <a:t>Match</a:t>
            </a:r>
          </a:p>
        </p:txBody>
      </p:sp>
      <p:sp>
        <p:nvSpPr>
          <p:cNvPr id="43" name="TextBox 42"/>
          <p:cNvSpPr txBox="1"/>
          <p:nvPr/>
        </p:nvSpPr>
        <p:spPr>
          <a:xfrm>
            <a:off x="457200" y="4343400"/>
            <a:ext cx="2651760" cy="228600"/>
          </a:xfrm>
          <a:prstGeom prst="rect">
            <a:avLst/>
          </a:prstGeom>
          <a:noFill/>
        </p:spPr>
        <p:txBody>
          <a:bodyPr wrap="none">
            <a:spAutoFit/>
          </a:bodyPr>
          <a:lstStyle/>
          <a:p>
            <a:pPr>
              <a:defRPr sz="900">
                <a:solidFill>
                  <a:srgbClr val="F1F5F9"/>
                </a:solidFill>
              </a:defRPr>
            </a:pPr>
            <a:r>
              <a:t>Risk level</a:t>
            </a:r>
          </a:p>
        </p:txBody>
      </p:sp>
      <p:sp>
        <p:nvSpPr>
          <p:cNvPr id="44" name="TextBox 43"/>
          <p:cNvSpPr txBox="1"/>
          <p:nvPr/>
        </p:nvSpPr>
        <p:spPr>
          <a:xfrm>
            <a:off x="3200400" y="4343400"/>
            <a:ext cx="2651760" cy="228600"/>
          </a:xfrm>
          <a:prstGeom prst="rect">
            <a:avLst/>
          </a:prstGeom>
          <a:noFill/>
        </p:spPr>
        <p:txBody>
          <a:bodyPr wrap="none">
            <a:spAutoFit/>
          </a:bodyPr>
          <a:lstStyle/>
          <a:p>
            <a:pPr>
              <a:defRPr sz="900">
                <a:solidFill>
                  <a:srgbClr val="F1F5F9"/>
                </a:solidFill>
              </a:defRPr>
            </a:pPr>
            <a:r>
              <a:t>risk_summary</a:t>
            </a:r>
          </a:p>
        </p:txBody>
      </p:sp>
      <p:sp>
        <p:nvSpPr>
          <p:cNvPr id="45" name="TextBox 44"/>
          <p:cNvSpPr txBox="1"/>
          <p:nvPr/>
        </p:nvSpPr>
        <p:spPr>
          <a:xfrm>
            <a:off x="5943600" y="4343400"/>
            <a:ext cx="2651760" cy="228600"/>
          </a:xfrm>
          <a:prstGeom prst="rect">
            <a:avLst/>
          </a:prstGeom>
          <a:noFill/>
        </p:spPr>
        <p:txBody>
          <a:bodyPr wrap="none">
            <a:spAutoFit/>
          </a:bodyPr>
          <a:lstStyle/>
          <a:p>
            <a:pPr>
              <a:defRPr sz="900">
                <a:solidFill>
                  <a:srgbClr val="F1F5F9"/>
                </a:solidFill>
              </a:defRPr>
            </a:pPr>
            <a:r>
              <a:t>risk_summary</a:t>
            </a:r>
          </a:p>
        </p:txBody>
      </p:sp>
      <p:sp>
        <p:nvSpPr>
          <p:cNvPr id="46" name="TextBox 45"/>
          <p:cNvSpPr txBox="1"/>
          <p:nvPr/>
        </p:nvSpPr>
        <p:spPr>
          <a:xfrm>
            <a:off x="8686800" y="4343400"/>
            <a:ext cx="2651760" cy="228600"/>
          </a:xfrm>
          <a:prstGeom prst="rect">
            <a:avLst/>
          </a:prstGeom>
          <a:noFill/>
        </p:spPr>
        <p:txBody>
          <a:bodyPr wrap="none">
            <a:spAutoFit/>
          </a:bodyPr>
          <a:lstStyle/>
          <a:p>
            <a:pPr>
              <a:defRPr sz="900">
                <a:solidFill>
                  <a:srgbClr val="F1F5F9"/>
                </a:solidFill>
              </a:defRPr>
            </a:pPr>
            <a:r>
              <a:t>✅</a:t>
            </a:r>
          </a:p>
        </p:txBody>
      </p:sp>
      <p:sp>
        <p:nvSpPr>
          <p:cNvPr id="47" name="TextBox 46"/>
          <p:cNvSpPr txBox="1"/>
          <p:nvPr/>
        </p:nvSpPr>
        <p:spPr>
          <a:xfrm>
            <a:off x="457200" y="4572000"/>
            <a:ext cx="2651760" cy="228600"/>
          </a:xfrm>
          <a:prstGeom prst="rect">
            <a:avLst/>
          </a:prstGeom>
          <a:noFill/>
        </p:spPr>
        <p:txBody>
          <a:bodyPr wrap="none">
            <a:spAutoFit/>
          </a:bodyPr>
          <a:lstStyle/>
          <a:p>
            <a:pPr>
              <a:defRPr sz="900">
                <a:solidFill>
                  <a:srgbClr val="F1F5F9"/>
                </a:solidFill>
              </a:defRPr>
            </a:pPr>
            <a:r>
              <a:t>Grade query</a:t>
            </a:r>
          </a:p>
        </p:txBody>
      </p:sp>
      <p:sp>
        <p:nvSpPr>
          <p:cNvPr id="48" name="TextBox 47"/>
          <p:cNvSpPr txBox="1"/>
          <p:nvPr/>
        </p:nvSpPr>
        <p:spPr>
          <a:xfrm>
            <a:off x="3200400" y="4572000"/>
            <a:ext cx="2651760" cy="228600"/>
          </a:xfrm>
          <a:prstGeom prst="rect">
            <a:avLst/>
          </a:prstGeom>
          <a:noFill/>
        </p:spPr>
        <p:txBody>
          <a:bodyPr wrap="none">
            <a:spAutoFit/>
          </a:bodyPr>
          <a:lstStyle/>
          <a:p>
            <a:pPr>
              <a:defRPr sz="900">
                <a:solidFill>
                  <a:srgbClr val="F1F5F9"/>
                </a:solidFill>
              </a:defRPr>
            </a:pPr>
            <a:r>
              <a:t>semester_N</a:t>
            </a:r>
          </a:p>
        </p:txBody>
      </p:sp>
      <p:sp>
        <p:nvSpPr>
          <p:cNvPr id="49" name="TextBox 48"/>
          <p:cNvSpPr txBox="1"/>
          <p:nvPr/>
        </p:nvSpPr>
        <p:spPr>
          <a:xfrm>
            <a:off x="5943600" y="4572000"/>
            <a:ext cx="2651760" cy="228600"/>
          </a:xfrm>
          <a:prstGeom prst="rect">
            <a:avLst/>
          </a:prstGeom>
          <a:noFill/>
        </p:spPr>
        <p:txBody>
          <a:bodyPr wrap="none">
            <a:spAutoFit/>
          </a:bodyPr>
          <a:lstStyle/>
          <a:p>
            <a:pPr>
              <a:defRPr sz="900">
                <a:solidFill>
                  <a:srgbClr val="F1F5F9"/>
                </a:solidFill>
              </a:defRPr>
            </a:pPr>
            <a:r>
              <a:t>semester_N</a:t>
            </a:r>
          </a:p>
        </p:txBody>
      </p:sp>
      <p:sp>
        <p:nvSpPr>
          <p:cNvPr id="50" name="TextBox 49"/>
          <p:cNvSpPr txBox="1"/>
          <p:nvPr/>
        </p:nvSpPr>
        <p:spPr>
          <a:xfrm>
            <a:off x="8686800" y="4572000"/>
            <a:ext cx="2651760" cy="228600"/>
          </a:xfrm>
          <a:prstGeom prst="rect">
            <a:avLst/>
          </a:prstGeom>
          <a:noFill/>
        </p:spPr>
        <p:txBody>
          <a:bodyPr wrap="none">
            <a:spAutoFit/>
          </a:bodyPr>
          <a:lstStyle/>
          <a:p>
            <a:pPr>
              <a:defRPr sz="900">
                <a:solidFill>
                  <a:srgbClr val="F1F5F9"/>
                </a:solidFill>
              </a:defRPr>
            </a:pPr>
            <a:r>
              <a:t>✅</a:t>
            </a:r>
          </a:p>
        </p:txBody>
      </p:sp>
      <p:sp>
        <p:nvSpPr>
          <p:cNvPr id="51" name="TextBox 50"/>
          <p:cNvSpPr txBox="1"/>
          <p:nvPr/>
        </p:nvSpPr>
        <p:spPr>
          <a:xfrm>
            <a:off x="457200" y="4800600"/>
            <a:ext cx="2651760" cy="228600"/>
          </a:xfrm>
          <a:prstGeom prst="rect">
            <a:avLst/>
          </a:prstGeom>
          <a:noFill/>
        </p:spPr>
        <p:txBody>
          <a:bodyPr wrap="none">
            <a:spAutoFit/>
          </a:bodyPr>
          <a:lstStyle/>
          <a:p>
            <a:pPr>
              <a:defRPr sz="900">
                <a:solidFill>
                  <a:srgbClr val="F1F5F9"/>
                </a:solidFill>
              </a:defRPr>
            </a:pPr>
            <a:r>
              <a:t>Placement</a:t>
            </a:r>
          </a:p>
        </p:txBody>
      </p:sp>
      <p:sp>
        <p:nvSpPr>
          <p:cNvPr id="52" name="TextBox 51"/>
          <p:cNvSpPr txBox="1"/>
          <p:nvPr/>
        </p:nvSpPr>
        <p:spPr>
          <a:xfrm>
            <a:off x="3200400" y="4800600"/>
            <a:ext cx="2651760" cy="228600"/>
          </a:xfrm>
          <a:prstGeom prst="rect">
            <a:avLst/>
          </a:prstGeom>
          <a:noFill/>
        </p:spPr>
        <p:txBody>
          <a:bodyPr wrap="none">
            <a:spAutoFit/>
          </a:bodyPr>
          <a:lstStyle/>
          <a:p>
            <a:pPr>
              <a:defRPr sz="900">
                <a:solidFill>
                  <a:srgbClr val="F1F5F9"/>
                </a:solidFill>
              </a:defRPr>
            </a:pPr>
            <a:r>
              <a:t>placement_eligible</a:t>
            </a:r>
          </a:p>
        </p:txBody>
      </p:sp>
      <p:sp>
        <p:nvSpPr>
          <p:cNvPr id="53" name="TextBox 52"/>
          <p:cNvSpPr txBox="1"/>
          <p:nvPr/>
        </p:nvSpPr>
        <p:spPr>
          <a:xfrm>
            <a:off x="5943600" y="4800600"/>
            <a:ext cx="2651760" cy="228600"/>
          </a:xfrm>
          <a:prstGeom prst="rect">
            <a:avLst/>
          </a:prstGeom>
          <a:noFill/>
        </p:spPr>
        <p:txBody>
          <a:bodyPr wrap="none">
            <a:spAutoFit/>
          </a:bodyPr>
          <a:lstStyle/>
          <a:p>
            <a:pPr>
              <a:defRPr sz="900">
                <a:solidFill>
                  <a:srgbClr val="F1F5F9"/>
                </a:solidFill>
              </a:defRPr>
            </a:pPr>
            <a:r>
              <a:t>placement</a:t>
            </a:r>
          </a:p>
        </p:txBody>
      </p:sp>
      <p:sp>
        <p:nvSpPr>
          <p:cNvPr id="54" name="TextBox 53"/>
          <p:cNvSpPr txBox="1"/>
          <p:nvPr/>
        </p:nvSpPr>
        <p:spPr>
          <a:xfrm>
            <a:off x="8686800" y="4800600"/>
            <a:ext cx="2651760" cy="228600"/>
          </a:xfrm>
          <a:prstGeom prst="rect">
            <a:avLst/>
          </a:prstGeom>
          <a:noFill/>
        </p:spPr>
        <p:txBody>
          <a:bodyPr wrap="none">
            <a:spAutoFit/>
          </a:bodyPr>
          <a:lstStyle/>
          <a:p>
            <a:pPr>
              <a:defRPr sz="900">
                <a:solidFill>
                  <a:srgbClr val="F1F5F9"/>
                </a:solidFill>
              </a:defRPr>
            </a:pPr>
            <a:r>
              <a:t>✅</a:t>
            </a:r>
          </a:p>
        </p:txBody>
      </p:sp>
      <p:sp>
        <p:nvSpPr>
          <p:cNvPr id="55" name="TextBox 54"/>
          <p:cNvSpPr txBox="1"/>
          <p:nvPr/>
        </p:nvSpPr>
        <p:spPr>
          <a:xfrm>
            <a:off x="457200" y="5029200"/>
            <a:ext cx="2651760" cy="228600"/>
          </a:xfrm>
          <a:prstGeom prst="rect">
            <a:avLst/>
          </a:prstGeom>
          <a:noFill/>
        </p:spPr>
        <p:txBody>
          <a:bodyPr wrap="none">
            <a:spAutoFit/>
          </a:bodyPr>
          <a:lstStyle/>
          <a:p>
            <a:pPr>
              <a:defRPr sz="900">
                <a:solidFill>
                  <a:srgbClr val="F1F5F9"/>
                </a:solidFill>
              </a:defRPr>
            </a:pPr>
            <a:r>
              <a:t>What-if</a:t>
            </a:r>
          </a:p>
        </p:txBody>
      </p:sp>
      <p:sp>
        <p:nvSpPr>
          <p:cNvPr id="56" name="TextBox 55"/>
          <p:cNvSpPr txBox="1"/>
          <p:nvPr/>
        </p:nvSpPr>
        <p:spPr>
          <a:xfrm>
            <a:off x="3200400" y="5029200"/>
            <a:ext cx="2651760" cy="228600"/>
          </a:xfrm>
          <a:prstGeom prst="rect">
            <a:avLst/>
          </a:prstGeom>
          <a:noFill/>
        </p:spPr>
        <p:txBody>
          <a:bodyPr wrap="none">
            <a:spAutoFit/>
          </a:bodyPr>
          <a:lstStyle/>
          <a:p>
            <a:pPr>
              <a:defRPr sz="900">
                <a:solidFill>
                  <a:srgbClr val="F1F5F9"/>
                </a:solidFill>
              </a:defRPr>
            </a:pPr>
            <a:r>
              <a:t>cgpa_trajectory</a:t>
            </a:r>
          </a:p>
        </p:txBody>
      </p:sp>
      <p:sp>
        <p:nvSpPr>
          <p:cNvPr id="57" name="TextBox 56"/>
          <p:cNvSpPr txBox="1"/>
          <p:nvPr/>
        </p:nvSpPr>
        <p:spPr>
          <a:xfrm>
            <a:off x="5943600" y="5029200"/>
            <a:ext cx="2651760" cy="228600"/>
          </a:xfrm>
          <a:prstGeom prst="rect">
            <a:avLst/>
          </a:prstGeom>
          <a:noFill/>
        </p:spPr>
        <p:txBody>
          <a:bodyPr wrap="none">
            <a:spAutoFit/>
          </a:bodyPr>
          <a:lstStyle/>
          <a:p>
            <a:pPr>
              <a:defRPr sz="900">
                <a:solidFill>
                  <a:srgbClr val="F1F5F9"/>
                </a:solidFill>
              </a:defRPr>
            </a:pPr>
            <a:r>
              <a:t>cgpa_trajectory</a:t>
            </a:r>
          </a:p>
        </p:txBody>
      </p:sp>
      <p:sp>
        <p:nvSpPr>
          <p:cNvPr id="58" name="TextBox 57"/>
          <p:cNvSpPr txBox="1"/>
          <p:nvPr/>
        </p:nvSpPr>
        <p:spPr>
          <a:xfrm>
            <a:off x="8686800" y="5029200"/>
            <a:ext cx="2651760" cy="228600"/>
          </a:xfrm>
          <a:prstGeom prst="rect">
            <a:avLst/>
          </a:prstGeom>
          <a:noFill/>
        </p:spPr>
        <p:txBody>
          <a:bodyPr wrap="none">
            <a:spAutoFit/>
          </a:bodyPr>
          <a:lstStyle/>
          <a:p>
            <a:pPr>
              <a:defRPr sz="900">
                <a:solidFill>
                  <a:srgbClr val="F1F5F9"/>
                </a:solidFill>
              </a:defRPr>
            </a:pPr>
            <a: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3657600" cy="457200"/>
          </a:xfrm>
          <a:prstGeom prst="rect">
            <a:avLst/>
          </a:prstGeom>
          <a:noFill/>
        </p:spPr>
        <p:txBody>
          <a:bodyPr wrap="none">
            <a:spAutoFit/>
          </a:bodyPr>
          <a:lstStyle/>
          <a:p>
            <a:pPr>
              <a:defRPr sz="1600" b="1">
                <a:solidFill>
                  <a:srgbClr val="3B82F6"/>
                </a:solidFill>
              </a:defRPr>
            </a:pPr>
            <a:r>
              <a:t>15 — Conclusion</a:t>
            </a:r>
          </a:p>
        </p:txBody>
      </p:sp>
      <p:sp>
        <p:nvSpPr>
          <p:cNvPr id="3" name="TextBox 2"/>
          <p:cNvSpPr txBox="1"/>
          <p:nvPr/>
        </p:nvSpPr>
        <p:spPr>
          <a:xfrm>
            <a:off x="274320" y="6446520"/>
            <a:ext cx="2743200" cy="365760"/>
          </a:xfrm>
          <a:prstGeom prst="rect">
            <a:avLst/>
          </a:prstGeom>
          <a:noFill/>
        </p:spPr>
        <p:txBody>
          <a:bodyPr wrap="none">
            <a:spAutoFit/>
          </a:bodyPr>
          <a:lstStyle/>
          <a:p>
            <a:pPr>
              <a:defRPr sz="1000">
                <a:solidFill>
                  <a:srgbClr val="94A3B8"/>
                </a:solidFill>
              </a:defRPr>
            </a:pPr>
            <a:r>
              <a:t>SARS | SNIST 2024-25</a:t>
            </a:r>
          </a:p>
        </p:txBody>
      </p:sp>
      <p:sp>
        <p:nvSpPr>
          <p:cNvPr id="4" name="TextBox 3"/>
          <p:cNvSpPr txBox="1"/>
          <p:nvPr/>
        </p:nvSpPr>
        <p:spPr>
          <a:xfrm>
            <a:off x="10515600" y="6446520"/>
            <a:ext cx="1371600" cy="365760"/>
          </a:xfrm>
          <a:prstGeom prst="rect">
            <a:avLst/>
          </a:prstGeom>
          <a:noFill/>
        </p:spPr>
        <p:txBody>
          <a:bodyPr wrap="none">
            <a:spAutoFit/>
          </a:bodyPr>
          <a:lstStyle/>
          <a:p>
            <a:pPr algn="r">
              <a:defRPr sz="1000">
                <a:solidFill>
                  <a:srgbClr val="94A3B8"/>
                </a:solidFill>
              </a:defRPr>
            </a:pPr>
            <a:r>
              <a:t>Slide 17 / 19</a:t>
            </a:r>
          </a:p>
        </p:txBody>
      </p:sp>
      <p:sp>
        <p:nvSpPr>
          <p:cNvPr id="5" name="Rectangle 4"/>
          <p:cNvSpPr/>
          <p:nvPr/>
        </p:nvSpPr>
        <p:spPr>
          <a:xfrm>
            <a:off x="457200" y="1097280"/>
            <a:ext cx="5486400" cy="5029200"/>
          </a:xfrm>
          <a:prstGeom prst="rect">
            <a:avLst/>
          </a:prstGeom>
          <a:solidFill>
            <a:srgbClr val="1E293B"/>
          </a:solidFill>
          <a:ln w="381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34440"/>
            <a:ext cx="5120640" cy="365760"/>
          </a:xfrm>
          <a:prstGeom prst="rect">
            <a:avLst/>
          </a:prstGeom>
          <a:noFill/>
        </p:spPr>
        <p:txBody>
          <a:bodyPr wrap="none">
            <a:spAutoFit/>
          </a:bodyPr>
          <a:lstStyle/>
          <a:p>
            <a:pPr>
              <a:defRPr sz="1600" b="1">
                <a:solidFill>
                  <a:srgbClr val="22C55E"/>
                </a:solidFill>
              </a:defRPr>
            </a:pPr>
            <a:r>
              <a:t>✅ What We Achieved</a:t>
            </a:r>
          </a:p>
        </p:txBody>
      </p:sp>
      <p:sp>
        <p:nvSpPr>
          <p:cNvPr id="7" name="TextBox 6"/>
          <p:cNvSpPr txBox="1"/>
          <p:nvPr/>
        </p:nvSpPr>
        <p:spPr>
          <a:xfrm>
            <a:off x="731520" y="1691640"/>
            <a:ext cx="4937760" cy="3840480"/>
          </a:xfrm>
          <a:prstGeom prst="rect">
            <a:avLst/>
          </a:prstGeom>
          <a:noFill/>
        </p:spPr>
        <p:txBody>
          <a:bodyPr wrap="square">
            <a:spAutoFit/>
          </a:bodyPr>
          <a:lstStyle/>
          <a:p>
            <a:pPr>
              <a:spcBef>
                <a:spcPts val="500"/>
              </a:spcBef>
              <a:defRPr sz="1100">
                <a:solidFill>
                  <a:srgbClr val="F1F5F9"/>
                </a:solidFill>
              </a:defRPr>
            </a:pPr>
            <a:r>
              <a:t>🎯 AI Vision extracts grades with 100% accuracy</a:t>
            </a:r>
          </a:p>
          <a:p>
            <a:pPr>
              <a:spcBef>
                <a:spcPts val="500"/>
              </a:spcBef>
              <a:defRPr sz="1100">
                <a:solidFill>
                  <a:srgbClr val="F1F5F9"/>
                </a:solidFill>
              </a:defRPr>
            </a:pPr>
            <a:r>
              <a:t>🎯 SARS Score correctly classifies all risk levels</a:t>
            </a:r>
          </a:p>
          <a:p>
            <a:pPr>
              <a:spcBef>
                <a:spcPts val="500"/>
              </a:spcBef>
              <a:defRPr sz="1100">
                <a:solidFill>
                  <a:srgbClr val="F1F5F9"/>
                </a:solidFill>
              </a:defRPr>
            </a:pPr>
            <a:r>
              <a:t>🎯 RAG pipeline reduces tokens by 73%</a:t>
            </a:r>
          </a:p>
          <a:p>
            <a:pPr>
              <a:spcBef>
                <a:spcPts val="500"/>
              </a:spcBef>
              <a:defRPr sz="1100">
                <a:solidFill>
                  <a:srgbClr val="F1F5F9"/>
                </a:solidFill>
              </a:defRPr>
            </a:pPr>
            <a:r>
              <a:t>🎯 Source citations make responses explainable</a:t>
            </a:r>
          </a:p>
          <a:p>
            <a:pPr>
              <a:spcBef>
                <a:spcPts val="500"/>
              </a:spcBef>
              <a:defRPr sz="1100">
                <a:solidFill>
                  <a:srgbClr val="F1F5F9"/>
                </a:solidFill>
              </a:defRPr>
            </a:pPr>
            <a:r>
              <a:t>🎯 Dual dashboard serves students and faculty</a:t>
            </a:r>
          </a:p>
        </p:txBody>
      </p:sp>
      <p:sp>
        <p:nvSpPr>
          <p:cNvPr id="8" name="Rectangle 7"/>
          <p:cNvSpPr/>
          <p:nvPr/>
        </p:nvSpPr>
        <p:spPr>
          <a:xfrm>
            <a:off x="6248095" y="1097280"/>
            <a:ext cx="5486400" cy="5029200"/>
          </a:xfrm>
          <a:prstGeom prst="rect">
            <a:avLst/>
          </a:prstGeom>
          <a:solidFill>
            <a:srgbClr val="1E293B"/>
          </a:solidFill>
          <a:ln w="381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2" y="1234440"/>
            <a:ext cx="5120640" cy="365760"/>
          </a:xfrm>
          <a:prstGeom prst="rect">
            <a:avLst/>
          </a:prstGeom>
          <a:noFill/>
        </p:spPr>
        <p:txBody>
          <a:bodyPr wrap="none">
            <a:spAutoFit/>
          </a:bodyPr>
          <a:lstStyle/>
          <a:p>
            <a:pPr>
              <a:defRPr sz="1600" b="1">
                <a:solidFill>
                  <a:srgbClr val="3B82F6"/>
                </a:solidFill>
              </a:defRPr>
            </a:pPr>
            <a:r>
              <a:t>🚀 Future Enhancements</a:t>
            </a:r>
          </a:p>
        </p:txBody>
      </p:sp>
      <p:sp>
        <p:nvSpPr>
          <p:cNvPr id="10" name="TextBox 9"/>
          <p:cNvSpPr txBox="1"/>
          <p:nvPr/>
        </p:nvSpPr>
        <p:spPr>
          <a:xfrm>
            <a:off x="6428232" y="1691640"/>
            <a:ext cx="4937760" cy="4114800"/>
          </a:xfrm>
          <a:prstGeom prst="rect">
            <a:avLst/>
          </a:prstGeom>
          <a:noFill/>
        </p:spPr>
        <p:txBody>
          <a:bodyPr wrap="square">
            <a:spAutoFit/>
          </a:bodyPr>
          <a:lstStyle/>
          <a:p>
            <a:pPr>
              <a:spcBef>
                <a:spcPts val="300"/>
              </a:spcBef>
              <a:defRPr sz="1000">
                <a:solidFill>
                  <a:srgbClr val="F1F5F9"/>
                </a:solidFill>
              </a:defRPr>
            </a:pPr>
            <a:r>
              <a:t>PostgreSQL — production-grade database</a:t>
            </a:r>
          </a:p>
          <a:p>
            <a:pPr>
              <a:spcBef>
                <a:spcPts val="300"/>
              </a:spcBef>
              <a:defRPr sz="1000">
                <a:solidFill>
                  <a:srgbClr val="F1F5F9"/>
                </a:solidFill>
              </a:defRPr>
            </a:pPr>
            <a:r>
              <a:t>Mobile App — React Native camera upload</a:t>
            </a:r>
          </a:p>
          <a:p>
            <a:pPr>
              <a:spcBef>
                <a:spcPts val="300"/>
              </a:spcBef>
              <a:defRPr sz="1000">
                <a:solidFill>
                  <a:srgbClr val="F1F5F9"/>
                </a:solidFill>
              </a:defRPr>
            </a:pPr>
            <a:r>
              <a:t>Multi-language — Hindi and regional languages</a:t>
            </a:r>
          </a:p>
          <a:p>
            <a:pPr>
              <a:spcBef>
                <a:spcPts val="300"/>
              </a:spcBef>
              <a:defRPr sz="1000">
                <a:solidFill>
                  <a:srgbClr val="F1F5F9"/>
                </a:solidFill>
              </a:defRPr>
            </a:pPr>
            <a:r>
              <a:t>LMS Integration — direct portal API connectors</a:t>
            </a:r>
          </a:p>
          <a:p>
            <a:pPr>
              <a:spcBef>
                <a:spcPts val="300"/>
              </a:spcBef>
              <a:defRPr sz="1000">
                <a:solidFill>
                  <a:srgbClr val="F1F5F9"/>
                </a:solidFill>
              </a:defRPr>
            </a:pPr>
            <a:r>
              <a:t>Advanced Agentic Workflows — LangGraph integration</a:t>
            </a:r>
          </a:p>
          <a:p>
            <a:pPr>
              <a:spcBef>
                <a:spcPts val="300"/>
              </a:spcBef>
              <a:defRPr sz="1000">
                <a:solidFill>
                  <a:srgbClr val="F1F5F9"/>
                </a:solidFill>
              </a:defRPr>
            </a:pPr>
            <a:r>
              <a:t>Longitudinal Study — validate across institutions</a:t>
            </a:r>
          </a:p>
          <a:p>
            <a:pPr>
              <a:spcBef>
                <a:spcPts val="300"/>
              </a:spcBef>
              <a:defRPr sz="1000">
                <a:solidFill>
                  <a:srgbClr val="F1F5F9"/>
                </a:solidFill>
              </a:defRPr>
            </a:pPr>
            <a:r>
              <a:t>Email Alerts — notify HIGH risk students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3657600" cy="457200"/>
          </a:xfrm>
          <a:prstGeom prst="rect">
            <a:avLst/>
          </a:prstGeom>
          <a:noFill/>
        </p:spPr>
        <p:txBody>
          <a:bodyPr wrap="none">
            <a:spAutoFit/>
          </a:bodyPr>
          <a:lstStyle/>
          <a:p>
            <a:pPr>
              <a:defRPr sz="1600" b="1">
                <a:solidFill>
                  <a:srgbClr val="3B82F6"/>
                </a:solidFill>
              </a:defRPr>
            </a:pPr>
            <a:r>
              <a:t>16 — References</a:t>
            </a:r>
          </a:p>
        </p:txBody>
      </p:sp>
      <p:sp>
        <p:nvSpPr>
          <p:cNvPr id="3" name="TextBox 2"/>
          <p:cNvSpPr txBox="1"/>
          <p:nvPr/>
        </p:nvSpPr>
        <p:spPr>
          <a:xfrm>
            <a:off x="274320" y="6446520"/>
            <a:ext cx="2743200" cy="365760"/>
          </a:xfrm>
          <a:prstGeom prst="rect">
            <a:avLst/>
          </a:prstGeom>
          <a:noFill/>
        </p:spPr>
        <p:txBody>
          <a:bodyPr wrap="none">
            <a:spAutoFit/>
          </a:bodyPr>
          <a:lstStyle/>
          <a:p>
            <a:pPr>
              <a:defRPr sz="1000">
                <a:solidFill>
                  <a:srgbClr val="94A3B8"/>
                </a:solidFill>
              </a:defRPr>
            </a:pPr>
            <a:r>
              <a:t>SARS | SNIST 2024-25</a:t>
            </a:r>
          </a:p>
        </p:txBody>
      </p:sp>
      <p:sp>
        <p:nvSpPr>
          <p:cNvPr id="4" name="TextBox 3"/>
          <p:cNvSpPr txBox="1"/>
          <p:nvPr/>
        </p:nvSpPr>
        <p:spPr>
          <a:xfrm>
            <a:off x="10515600" y="6446520"/>
            <a:ext cx="1371600" cy="365760"/>
          </a:xfrm>
          <a:prstGeom prst="rect">
            <a:avLst/>
          </a:prstGeom>
          <a:noFill/>
        </p:spPr>
        <p:txBody>
          <a:bodyPr wrap="none">
            <a:spAutoFit/>
          </a:bodyPr>
          <a:lstStyle/>
          <a:p>
            <a:pPr algn="r">
              <a:defRPr sz="1000">
                <a:solidFill>
                  <a:srgbClr val="94A3B8"/>
                </a:solidFill>
              </a:defRPr>
            </a:pPr>
            <a:r>
              <a:t>Slide 18 / 19</a:t>
            </a:r>
          </a:p>
        </p:txBody>
      </p:sp>
      <p:sp>
        <p:nvSpPr>
          <p:cNvPr id="5" name="TextBox 4"/>
          <p:cNvSpPr txBox="1"/>
          <p:nvPr/>
        </p:nvSpPr>
        <p:spPr>
          <a:xfrm>
            <a:off x="457200" y="1097280"/>
            <a:ext cx="11277295" cy="5303520"/>
          </a:xfrm>
          <a:prstGeom prst="rect">
            <a:avLst/>
          </a:prstGeom>
          <a:noFill/>
        </p:spPr>
        <p:txBody>
          <a:bodyPr wrap="square">
            <a:spAutoFit/>
          </a:bodyPr>
          <a:lstStyle/>
          <a:p>
            <a:pPr>
              <a:spcBef>
                <a:spcPts val="200"/>
              </a:spcBef>
              <a:defRPr sz="900">
                <a:solidFill>
                  <a:srgbClr val="F1F5F9"/>
                </a:solidFill>
              </a:defRPr>
            </a:pPr>
            <a:r>
              <a:t>[1] R. S. J. D. Baker and P. S. Inventado, "Educational data mining and learning analytics," Springer, 2014.</a:t>
            </a:r>
          </a:p>
          <a:p>
            <a:pPr>
              <a:spcBef>
                <a:spcPts val="200"/>
              </a:spcBef>
              <a:defRPr sz="900">
                <a:solidFill>
                  <a:srgbClr val="F1F5F9"/>
                </a:solidFill>
              </a:defRPr>
            </a:pPr>
            <a:r>
              <a:t>[2] A. Essa and H. Ayad, "Improving student success using predictive models," Research in Learning Technology, vol. 20, 2012.</a:t>
            </a:r>
          </a:p>
          <a:p>
            <a:pPr>
              <a:spcBef>
                <a:spcPts val="200"/>
              </a:spcBef>
              <a:defRPr sz="900">
                <a:solidFill>
                  <a:srgbClr val="F1F5F9"/>
                </a:solidFill>
              </a:defRPr>
            </a:pPr>
            <a:r>
              <a:t>[3] K. E. Arnold and M. D. Pistilli, "Course signals at Purdue," Proc. LAK 2012, pp. 267-270.</a:t>
            </a:r>
          </a:p>
          <a:p>
            <a:pPr>
              <a:spcBef>
                <a:spcPts val="200"/>
              </a:spcBef>
              <a:defRPr sz="900">
                <a:solidFill>
                  <a:srgbClr val="F1F5F9"/>
                </a:solidFill>
              </a:defRPr>
            </a:pPr>
            <a:r>
              <a:t>[4] S. M. Jayaprakash et al., "Early alert of academically at-risk students," Journal of Learning Analytics, vol. 1, no. 1, 2014.</a:t>
            </a:r>
          </a:p>
          <a:p>
            <a:pPr>
              <a:spcBef>
                <a:spcPts val="200"/>
              </a:spcBef>
              <a:defRPr sz="900">
                <a:solidFill>
                  <a:srgbClr val="F1F5F9"/>
                </a:solidFill>
              </a:defRPr>
            </a:pPr>
            <a:r>
              <a:t>[5] P. Lewis et al., "Retrieval-augmented generation for knowledge-intensive NLP tasks," NeurIPS vol. 33, 2020.</a:t>
            </a:r>
          </a:p>
          <a:p>
            <a:pPr>
              <a:spcBef>
                <a:spcPts val="200"/>
              </a:spcBef>
              <a:defRPr sz="900">
                <a:solidFill>
                  <a:srgbClr val="F1F5F9"/>
                </a:solidFill>
              </a:defRPr>
            </a:pPr>
            <a:r>
              <a:t>[6] Y. Gao et al., "Retrieval-augmented generation for large language models: A survey," arXiv:2312.10997, 2023.</a:t>
            </a:r>
          </a:p>
          <a:p>
            <a:pPr>
              <a:spcBef>
                <a:spcPts val="200"/>
              </a:spcBef>
              <a:defRPr sz="900">
                <a:solidFill>
                  <a:srgbClr val="F1F5F9"/>
                </a:solidFill>
              </a:defRPr>
            </a:pPr>
            <a:r>
              <a:t>[7] H. Khosravi et al., "Explainable artificial intelligence in education," Computers and Education: AI, vol. 3, 2022.</a:t>
            </a:r>
          </a:p>
          <a:p>
            <a:pPr>
              <a:spcBef>
                <a:spcPts val="200"/>
              </a:spcBef>
              <a:defRPr sz="900">
                <a:solidFill>
                  <a:srgbClr val="F1F5F9"/>
                </a:solidFill>
              </a:defRPr>
            </a:pPr>
            <a:r>
              <a:t>[8] E. Kasneci et al., "ChatGPT for good? On opportunities and challenges of LLMs for education," Learning and Individual Differences, vol. 103, 2023.</a:t>
            </a:r>
          </a:p>
          <a:p>
            <a:pPr>
              <a:spcBef>
                <a:spcPts val="200"/>
              </a:spcBef>
              <a:defRPr sz="900">
                <a:solidFill>
                  <a:srgbClr val="F1F5F9"/>
                </a:solidFill>
              </a:defRPr>
            </a:pPr>
            <a:r>
              <a:t>[9] Google AI, "Gemini API Documentation," https://ai.google.dev, 2024.</a:t>
            </a:r>
          </a:p>
          <a:p>
            <a:pPr>
              <a:spcBef>
                <a:spcPts val="200"/>
              </a:spcBef>
              <a:defRPr sz="900">
                <a:solidFill>
                  <a:srgbClr val="F1F5F9"/>
                </a:solidFill>
              </a:defRPr>
            </a:pPr>
            <a:r>
              <a:t>[10] FastAPI Documentation, https://fastapi.tiangolo.com, 2024.</a:t>
            </a:r>
          </a:p>
        </p:txBody>
      </p:sp>
      <p:sp>
        <p:nvSpPr>
          <p:cNvPr id="6" name="TextBox 5"/>
          <p:cNvSpPr txBox="1"/>
          <p:nvPr/>
        </p:nvSpPr>
        <p:spPr>
          <a:xfrm>
            <a:off x="274320" y="6446520"/>
            <a:ext cx="2743200" cy="365760"/>
          </a:xfrm>
          <a:prstGeom prst="rect">
            <a:avLst/>
          </a:prstGeom>
          <a:noFill/>
        </p:spPr>
        <p:txBody>
          <a:bodyPr wrap="none">
            <a:spAutoFit/>
          </a:bodyPr>
          <a:lstStyle/>
          <a:p>
            <a:pPr>
              <a:defRPr sz="1000">
                <a:solidFill>
                  <a:srgbClr val="94A3B8"/>
                </a:solidFill>
              </a:defRPr>
            </a:pPr>
            <a:r>
              <a:t>SARS | SNIST 2024-25</a:t>
            </a:r>
          </a:p>
        </p:txBody>
      </p:sp>
      <p:sp>
        <p:nvSpPr>
          <p:cNvPr id="7" name="TextBox 6"/>
          <p:cNvSpPr txBox="1"/>
          <p:nvPr/>
        </p:nvSpPr>
        <p:spPr>
          <a:xfrm>
            <a:off x="10515600" y="6446520"/>
            <a:ext cx="1371600" cy="365760"/>
          </a:xfrm>
          <a:prstGeom prst="rect">
            <a:avLst/>
          </a:prstGeom>
          <a:noFill/>
        </p:spPr>
        <p:txBody>
          <a:bodyPr wrap="none">
            <a:spAutoFit/>
          </a:bodyPr>
          <a:lstStyle/>
          <a:p>
            <a:pPr algn="r">
              <a:defRPr sz="1000">
                <a:solidFill>
                  <a:srgbClr val="94A3B8"/>
                </a:solidFill>
              </a:defRPr>
            </a:pPr>
            <a:r>
              <a:t>Slide 18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182880"/>
            <a:ext cx="12191695" cy="9144"/>
          </a:xfrm>
          <a:prstGeom prst="rect">
            <a:avLst/>
          </a:prstGeom>
          <a:solidFill>
            <a:srgbClr val="3B82F6"/>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91695" cy="9144"/>
          </a:xfrm>
          <a:prstGeom prst="rect">
            <a:avLst/>
          </a:prstGeom>
          <a:solidFill>
            <a:srgbClr val="3B82F6"/>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362895" cy="731520"/>
          </a:xfrm>
          <a:prstGeom prst="rect">
            <a:avLst/>
          </a:prstGeom>
          <a:noFill/>
        </p:spPr>
        <p:txBody>
          <a:bodyPr wrap="none">
            <a:spAutoFit/>
          </a:bodyPr>
          <a:lstStyle/>
          <a:p>
            <a:pPr algn="ctr">
              <a:defRPr sz="6200" b="1">
                <a:solidFill>
                  <a:srgbClr val="F1F5F9"/>
                </a:solidFill>
              </a:defRPr>
            </a:pPr>
            <a:r>
              <a:t>Thank You</a:t>
            </a:r>
          </a:p>
        </p:txBody>
      </p:sp>
      <p:sp>
        <p:nvSpPr>
          <p:cNvPr id="5" name="TextBox 4"/>
          <p:cNvSpPr txBox="1"/>
          <p:nvPr/>
        </p:nvSpPr>
        <p:spPr>
          <a:xfrm>
            <a:off x="914400" y="2834640"/>
            <a:ext cx="10362895" cy="548640"/>
          </a:xfrm>
          <a:prstGeom prst="rect">
            <a:avLst/>
          </a:prstGeom>
          <a:noFill/>
        </p:spPr>
        <p:txBody>
          <a:bodyPr wrap="none">
            <a:spAutoFit/>
          </a:bodyPr>
          <a:lstStyle/>
          <a:p>
            <a:pPr algn="ctr">
              <a:defRPr sz="3600">
                <a:solidFill>
                  <a:srgbClr val="06B6D4"/>
                </a:solidFill>
              </a:defRPr>
            </a:pPr>
            <a:r>
              <a:t>Questions &amp; Answers</a:t>
            </a:r>
          </a:p>
        </p:txBody>
      </p:sp>
      <p:sp>
        <p:nvSpPr>
          <p:cNvPr id="6" name="TextBox 5"/>
          <p:cNvSpPr txBox="1"/>
          <p:nvPr/>
        </p:nvSpPr>
        <p:spPr>
          <a:xfrm>
            <a:off x="914400" y="3840480"/>
            <a:ext cx="10362895" cy="1371600"/>
          </a:xfrm>
          <a:prstGeom prst="rect">
            <a:avLst/>
          </a:prstGeom>
          <a:noFill/>
        </p:spPr>
        <p:txBody>
          <a:bodyPr wrap="square">
            <a:spAutoFit/>
          </a:bodyPr>
          <a:lstStyle/>
          <a:p>
            <a:pPr algn="ctr">
              <a:defRPr sz="1400">
                <a:solidFill>
                  <a:srgbClr val="F1F5F9"/>
                </a:solidFill>
              </a:defRPr>
            </a:pPr>
            <a:r>
              <a:t>Kethavath Santhosh | 22311A12P9</a:t>
            </a:r>
          </a:p>
          <a:p>
            <a:pPr algn="ctr">
              <a:defRPr sz="1400">
                <a:solidFill>
                  <a:srgbClr val="F1F5F9"/>
                </a:solidFill>
              </a:defRPr>
            </a:pPr>
            <a:r>
              <a:t>Department of Information Technology</a:t>
            </a:r>
          </a:p>
          <a:p>
            <a:pPr algn="ctr">
              <a:defRPr sz="1400">
                <a:solidFill>
                  <a:srgbClr val="F1F5F9"/>
                </a:solidFill>
              </a:defRPr>
            </a:pPr>
            <a:r>
              <a:t>SNIST, Hyderabad | 2024-25</a:t>
            </a:r>
          </a:p>
          <a:p>
            <a:pPr algn="ctr">
              <a:defRPr sz="1400">
                <a:solidFill>
                  <a:srgbClr val="F1F5F9"/>
                </a:solidFill>
              </a:defRPr>
            </a:pPr>
            <a:r>
              <a:t>Guide: Dr. Sunil Bhutada</a:t>
            </a:r>
          </a:p>
        </p:txBody>
      </p:sp>
      <p:sp>
        <p:nvSpPr>
          <p:cNvPr id="7" name="TextBox 6"/>
          <p:cNvSpPr txBox="1"/>
          <p:nvPr/>
        </p:nvSpPr>
        <p:spPr>
          <a:xfrm>
            <a:off x="914400" y="5943600"/>
            <a:ext cx="10362895" cy="548640"/>
          </a:xfrm>
          <a:prstGeom prst="rect">
            <a:avLst/>
          </a:prstGeom>
          <a:noFill/>
        </p:spPr>
        <p:txBody>
          <a:bodyPr wrap="none">
            <a:spAutoFit/>
          </a:bodyPr>
          <a:lstStyle/>
          <a:p>
            <a:pPr algn="ctr">
              <a:defRPr sz="1000">
                <a:solidFill>
                  <a:srgbClr val="94A3B8"/>
                </a:solidFill>
              </a:defRPr>
            </a:pPr>
            <a:r>
              <a:t>SARS — Student Academic Performance Risk Assessment and Advisory System</a:t>
            </a:r>
          </a:p>
        </p:txBody>
      </p:sp>
      <p:sp>
        <p:nvSpPr>
          <p:cNvPr id="8" name="TextBox 7"/>
          <p:cNvSpPr txBox="1"/>
          <p:nvPr/>
        </p:nvSpPr>
        <p:spPr>
          <a:xfrm>
            <a:off x="274320" y="6446520"/>
            <a:ext cx="2743200" cy="365760"/>
          </a:xfrm>
          <a:prstGeom prst="rect">
            <a:avLst/>
          </a:prstGeom>
          <a:noFill/>
        </p:spPr>
        <p:txBody>
          <a:bodyPr wrap="none">
            <a:spAutoFit/>
          </a:bodyPr>
          <a:lstStyle/>
          <a:p>
            <a:pPr>
              <a:defRPr sz="1000">
                <a:solidFill>
                  <a:srgbClr val="94A3B8"/>
                </a:solidFill>
              </a:defRPr>
            </a:pPr>
            <a:r>
              <a:t>SARS | SNIST 2024-25</a:t>
            </a:r>
          </a:p>
        </p:txBody>
      </p:sp>
      <p:sp>
        <p:nvSpPr>
          <p:cNvPr id="9" name="TextBox 8"/>
          <p:cNvSpPr txBox="1"/>
          <p:nvPr/>
        </p:nvSpPr>
        <p:spPr>
          <a:xfrm>
            <a:off x="10515600" y="6446520"/>
            <a:ext cx="1371600" cy="365760"/>
          </a:xfrm>
          <a:prstGeom prst="rect">
            <a:avLst/>
          </a:prstGeom>
          <a:noFill/>
        </p:spPr>
        <p:txBody>
          <a:bodyPr wrap="none">
            <a:spAutoFit/>
          </a:bodyPr>
          <a:lstStyle/>
          <a:p>
            <a:pPr algn="r">
              <a:defRPr sz="1000">
                <a:solidFill>
                  <a:srgbClr val="94A3B8"/>
                </a:solidFill>
              </a:defRPr>
            </a:pPr>
            <a:r>
              <a:t>Slide 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